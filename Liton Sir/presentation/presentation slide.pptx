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71" r:id="rId3"/>
    <p:sldId id="259" r:id="rId4"/>
    <p:sldId id="270" r:id="rId5"/>
    <p:sldId id="261" r:id="rId6"/>
    <p:sldId id="262" r:id="rId7"/>
    <p:sldId id="263" r:id="rId8"/>
    <p:sldId id="265" r:id="rId9"/>
    <p:sldId id="266" r:id="rId10"/>
    <p:sldId id="269" r:id="rId11"/>
    <p:sldId id="273" r:id="rId12"/>
    <p:sldId id="274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302" r:id="rId34"/>
    <p:sldId id="301" r:id="rId35"/>
    <p:sldId id="30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1ECA6D-D364-49D3-AAF5-224EE7442BD7}">
          <p14:sldIdLst>
            <p14:sldId id="258"/>
          </p14:sldIdLst>
        </p14:section>
        <p14:section name="Wavelet" id="{6AACB6C2-C4F2-429C-82DC-17D79CEAD832}">
          <p14:sldIdLst>
            <p14:sldId id="271"/>
            <p14:sldId id="259"/>
            <p14:sldId id="270"/>
            <p14:sldId id="261"/>
            <p14:sldId id="262"/>
            <p14:sldId id="263"/>
            <p14:sldId id="265"/>
            <p14:sldId id="266"/>
            <p14:sldId id="269"/>
          </p14:sldIdLst>
        </p14:section>
        <p14:section name="Special Effect" id="{DE40BDE8-0308-48CF-B4AA-674420701F88}">
          <p14:sldIdLst>
            <p14:sldId id="273"/>
            <p14:sldId id="274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Video processing" id="{3FBD84C8-41D6-4632-B93C-19CA7F289B4F}">
          <p14:sldIdLst>
            <p14:sldId id="285"/>
            <p14:sldId id="286"/>
            <p14:sldId id="287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302"/>
            <p14:sldId id="301"/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3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3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37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2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08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85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96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3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5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89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42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04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1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53AB6B2-20D0-470C-B802-5859685D44D8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02BCAFD5-071E-4C87-AB94-A4F1CEC5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578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403" y="1132861"/>
            <a:ext cx="6255209" cy="2645912"/>
          </a:xfrm>
        </p:spPr>
        <p:txBody>
          <a:bodyPr/>
          <a:lstStyle/>
          <a:p>
            <a:r>
              <a:rPr lang="en-US" dirty="0" smtClean="0"/>
              <a:t>Presentation on Wavelet, Special Effects and </a:t>
            </a:r>
            <a:br>
              <a:rPr lang="en-US" dirty="0" smtClean="0"/>
            </a:br>
            <a:r>
              <a:rPr lang="en-US" dirty="0" smtClean="0"/>
              <a:t>Video Processing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1944057"/>
          </a:xfrm>
        </p:spPr>
        <p:txBody>
          <a:bodyPr/>
          <a:lstStyle/>
          <a:p>
            <a:r>
              <a:rPr lang="en-US" dirty="0" smtClean="0"/>
              <a:t>Presented by</a:t>
            </a:r>
          </a:p>
          <a:p>
            <a:r>
              <a:rPr lang="en-US" i="1" dirty="0" smtClean="0"/>
              <a:t>Tama Shil (342)</a:t>
            </a:r>
          </a:p>
          <a:p>
            <a:r>
              <a:rPr lang="en-US" i="1" dirty="0" err="1"/>
              <a:t>Md</a:t>
            </a:r>
            <a:r>
              <a:rPr lang="en-US" i="1" dirty="0"/>
              <a:t> </a:t>
            </a:r>
            <a:r>
              <a:rPr lang="en-US" i="1" dirty="0" err="1"/>
              <a:t>Minhaj</a:t>
            </a:r>
            <a:r>
              <a:rPr lang="en-US" i="1" dirty="0"/>
              <a:t> Uddin </a:t>
            </a:r>
            <a:r>
              <a:rPr lang="en-US" i="1" dirty="0" smtClean="0"/>
              <a:t>(368)</a:t>
            </a:r>
          </a:p>
          <a:p>
            <a:r>
              <a:rPr lang="en-US" i="1" dirty="0" err="1" smtClean="0"/>
              <a:t>Pritam</a:t>
            </a:r>
            <a:r>
              <a:rPr lang="en-US" i="1" dirty="0" smtClean="0"/>
              <a:t> </a:t>
            </a:r>
            <a:r>
              <a:rPr lang="en-US" i="1" dirty="0" err="1" smtClean="0"/>
              <a:t>Saha</a:t>
            </a:r>
            <a:r>
              <a:rPr lang="en-US" i="1" dirty="0" smtClean="0"/>
              <a:t>(375)</a:t>
            </a:r>
            <a:endParaRPr lang="en-US" i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7692208" y="2455817"/>
            <a:ext cx="3810001" cy="3712086"/>
          </a:xfrm>
        </p:spPr>
        <p:txBody>
          <a:bodyPr/>
          <a:lstStyle/>
          <a:p>
            <a:r>
              <a:rPr lang="en-US" dirty="0" smtClean="0"/>
              <a:t>Presented to </a:t>
            </a:r>
          </a:p>
          <a:p>
            <a:pPr algn="ctr"/>
            <a:endParaRPr lang="en-US" b="1" i="1" dirty="0" smtClean="0"/>
          </a:p>
          <a:p>
            <a:pPr algn="ctr"/>
            <a:r>
              <a:rPr lang="en-US" b="1" i="1" dirty="0" smtClean="0"/>
              <a:t>Professor </a:t>
            </a:r>
            <a:r>
              <a:rPr lang="en-US" b="1" i="1" dirty="0"/>
              <a:t>Dr. </a:t>
            </a:r>
            <a:r>
              <a:rPr lang="en-US" b="1" i="1" dirty="0" err="1"/>
              <a:t>Liton</a:t>
            </a:r>
            <a:r>
              <a:rPr lang="en-US" b="1" i="1" dirty="0"/>
              <a:t> Jude </a:t>
            </a:r>
            <a:r>
              <a:rPr lang="en-US" b="1" i="1" dirty="0" err="1" smtClean="0"/>
              <a:t>Rozario</a:t>
            </a:r>
            <a:r>
              <a:rPr lang="en-US" b="1" i="1" dirty="0"/>
              <a:t> </a:t>
            </a:r>
            <a:endParaRPr lang="en-US" dirty="0"/>
          </a:p>
          <a:p>
            <a:pPr algn="ctr"/>
            <a:r>
              <a:rPr lang="en-US" i="1" dirty="0"/>
              <a:t>Department of Computer Science &amp; Engineering</a:t>
            </a:r>
            <a:endParaRPr lang="en-US" dirty="0"/>
          </a:p>
          <a:p>
            <a:pPr algn="ctr"/>
            <a:r>
              <a:rPr lang="en-US" i="1" dirty="0" err="1"/>
              <a:t>Jahangirnagar</a:t>
            </a:r>
            <a:r>
              <a:rPr lang="en-US" i="1" dirty="0"/>
              <a:t> University</a:t>
            </a:r>
            <a:endParaRPr lang="en-US" dirty="0"/>
          </a:p>
          <a:p>
            <a:pPr algn="ctr"/>
            <a:r>
              <a:rPr lang="en-US" i="1" dirty="0"/>
              <a:t>Savar, Dhaka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35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/>
          <p:cNvSpPr/>
          <p:nvPr/>
        </p:nvSpPr>
        <p:spPr>
          <a:xfrm>
            <a:off x="2409371" y="2206171"/>
            <a:ext cx="6720115" cy="1770743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09371" y="2676043"/>
            <a:ext cx="6720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/>
              <a:t>Wavelet Transform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52940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134518"/>
          </a:xfrm>
        </p:spPr>
        <p:txBody>
          <a:bodyPr/>
          <a:lstStyle/>
          <a:p>
            <a:pPr algn="ctr"/>
            <a:r>
              <a:rPr lang="en-US" sz="2800" dirty="0" smtClean="0"/>
              <a:t>Wavelet Transform</a:t>
            </a:r>
            <a:endParaRPr lang="en-US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0819" y="2573383"/>
            <a:ext cx="4491444" cy="4113689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900" dirty="0"/>
              <a:t>A wavelet transform decomposes a signal into a set of basic functions. </a:t>
            </a:r>
            <a:endParaRPr lang="en-US" sz="1900" dirty="0" smtClean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900" dirty="0" smtClean="0"/>
              <a:t>These </a:t>
            </a:r>
            <a:r>
              <a:rPr lang="en-US" sz="1900" dirty="0"/>
              <a:t>basic functions are called the “wavelets</a:t>
            </a:r>
            <a:r>
              <a:rPr lang="en-US" sz="1900" dirty="0" smtClean="0"/>
              <a:t>”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900" dirty="0" smtClean="0"/>
              <a:t>A wavelet </a:t>
            </a:r>
            <a:r>
              <a:rPr lang="en-US" sz="1900" dirty="0"/>
              <a:t>to be a little part of a wave: a wave which is only non-zero in a small </a:t>
            </a:r>
            <a:r>
              <a:rPr lang="en-US" sz="1900" dirty="0" smtClean="0"/>
              <a:t>region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900" dirty="0" smtClean="0"/>
              <a:t>So we can say a Wavelet </a:t>
            </a:r>
            <a:r>
              <a:rPr lang="en-US" sz="1900" dirty="0"/>
              <a:t>transform is the decomposition of a signal to the frequency components</a:t>
            </a:r>
            <a:r>
              <a:rPr lang="en-US" sz="1900" dirty="0" smtClean="0"/>
              <a:t>.</a:t>
            </a:r>
            <a:endParaRPr lang="en-US" sz="16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067" y="2573383"/>
            <a:ext cx="5925377" cy="2924583"/>
          </a:xfrm>
        </p:spPr>
      </p:pic>
    </p:spTree>
    <p:extLst>
      <p:ext uri="{BB962C8B-B14F-4D97-AF65-F5344CB8AC3E}">
        <p14:creationId xmlns:p14="http://schemas.microsoft.com/office/powerpoint/2010/main" val="27478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743829" y="2299063"/>
            <a:ext cx="4880300" cy="2295525"/>
          </a:xfrm>
        </p:spPr>
        <p:txBody>
          <a:bodyPr>
            <a:normAutofit/>
          </a:bodyPr>
          <a:lstStyle/>
          <a:p>
            <a:r>
              <a:rPr lang="en-US" dirty="0"/>
              <a:t>In this topic we will try to </a:t>
            </a:r>
            <a:r>
              <a:rPr lang="en-US" dirty="0" smtClean="0"/>
              <a:t>discuss about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 </a:t>
            </a:r>
            <a:r>
              <a:rPr lang="en-US" dirty="0"/>
              <a:t>Compression Using </a:t>
            </a:r>
            <a:r>
              <a:rPr lang="en-US" dirty="0" smtClean="0"/>
              <a:t>Wavelets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lang="en-US" dirty="0" smtClean="0"/>
              <a:t>pproximation </a:t>
            </a:r>
            <a:r>
              <a:rPr lang="en-US" dirty="0"/>
              <a:t>and detail coefficients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 Pass Filtering Using Wavelets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Denoising</a:t>
            </a:r>
            <a:r>
              <a:rPr lang="en-US" dirty="0"/>
              <a:t> Using Wavelets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727654" y="2126343"/>
            <a:ext cx="3547533" cy="1618396"/>
          </a:xfrm>
        </p:spPr>
        <p:txBody>
          <a:bodyPr/>
          <a:lstStyle/>
          <a:p>
            <a:pPr algn="ctr"/>
            <a:r>
              <a:rPr lang="en-US" sz="2800" dirty="0" smtClean="0"/>
              <a:t>Applications of Wavelet </a:t>
            </a:r>
            <a:r>
              <a:rPr lang="en-US" sz="2800" dirty="0"/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281954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566057"/>
            <a:ext cx="3547533" cy="1208141"/>
          </a:xfrm>
        </p:spPr>
        <p:txBody>
          <a:bodyPr/>
          <a:lstStyle/>
          <a:p>
            <a:pPr marL="285750" indent="-285750"/>
            <a:r>
              <a:rPr lang="en-US" dirty="0"/>
              <a:t>Image </a:t>
            </a:r>
            <a:r>
              <a:rPr lang="en-US" dirty="0" smtClean="0"/>
              <a:t>Compression using wavelet transform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336" y="1005840"/>
            <a:ext cx="6252633" cy="4685394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 smtClean="0"/>
              <a:t>Why use wavelet transform in image compression-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Wavelet </a:t>
            </a:r>
            <a:r>
              <a:rPr lang="en-US" dirty="0"/>
              <a:t>transform is used in image compression to analyze an image in terms of its frequency components and spatial information. 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allows for effective data reduction while maintaining a balance between compression ratio and image quality.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4021" y="2064484"/>
            <a:ext cx="4798241" cy="3016249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Image compression is the process of reducing the size of an image file while trying to preserve its visual quality as much as possible</a:t>
            </a:r>
            <a:r>
              <a:rPr lang="en-US" sz="2000" dirty="0" smtClean="0"/>
              <a:t>.</a:t>
            </a:r>
            <a:endParaRPr lang="en-US" sz="2000" dirty="0"/>
          </a:p>
          <a:p>
            <a:pPr algn="just"/>
            <a:r>
              <a:rPr lang="en-US" sz="2000" dirty="0" smtClean="0"/>
              <a:t>Here we will use different wavelets like </a:t>
            </a:r>
            <a:r>
              <a:rPr lang="en-US" sz="2000" dirty="0" err="1" smtClean="0"/>
              <a:t>Haar</a:t>
            </a:r>
            <a:r>
              <a:rPr lang="en-US" sz="2000" dirty="0"/>
              <a:t> wavelet and Daubechies-6 </a:t>
            </a:r>
            <a:r>
              <a:rPr lang="en-US" sz="2000" dirty="0" smtClean="0"/>
              <a:t>wavelet for compression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026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90625" y="595085"/>
            <a:ext cx="3547533" cy="1208141"/>
          </a:xfrm>
        </p:spPr>
        <p:txBody>
          <a:bodyPr/>
          <a:lstStyle/>
          <a:p>
            <a:pPr marL="285750" indent="-285750"/>
            <a:r>
              <a:rPr lang="en-US" dirty="0"/>
              <a:t>Image </a:t>
            </a:r>
            <a:r>
              <a:rPr lang="en-US" dirty="0" smtClean="0"/>
              <a:t>Compression using wavelet transform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322422" y="159657"/>
            <a:ext cx="5767977" cy="6698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Python code:</a:t>
            </a:r>
          </a:p>
          <a:p>
            <a:r>
              <a:rPr lang="en-US" dirty="0"/>
              <a:t># Perform </a:t>
            </a:r>
            <a:r>
              <a:rPr lang="en-US" dirty="0" err="1"/>
              <a:t>Haar</a:t>
            </a:r>
            <a:r>
              <a:rPr lang="en-US" dirty="0"/>
              <a:t> wavelet transform</a:t>
            </a:r>
          </a:p>
          <a:p>
            <a:r>
              <a:rPr lang="en-US" dirty="0" err="1"/>
              <a:t>transformed_image</a:t>
            </a:r>
            <a:r>
              <a:rPr lang="en-US" dirty="0"/>
              <a:t> = </a:t>
            </a:r>
            <a:r>
              <a:rPr lang="en-US" dirty="0" err="1"/>
              <a:t>haar_wavelet_transform</a:t>
            </a:r>
            <a:r>
              <a:rPr lang="en-US" dirty="0"/>
              <a:t>(image)</a:t>
            </a:r>
          </a:p>
          <a:p>
            <a:r>
              <a:rPr lang="en-US" dirty="0"/>
              <a:t># Perform Daubechies-6 wavelet transform</a:t>
            </a:r>
          </a:p>
          <a:p>
            <a:r>
              <a:rPr lang="en-US" dirty="0" err="1"/>
              <a:t>coeffs</a:t>
            </a:r>
            <a:r>
              <a:rPr lang="en-US" dirty="0"/>
              <a:t> = pywt.dwt2(</a:t>
            </a:r>
            <a:r>
              <a:rPr lang="en-US" dirty="0" err="1"/>
              <a:t>original_image</a:t>
            </a:r>
            <a:r>
              <a:rPr lang="en-US" dirty="0"/>
              <a:t>, 'db6')</a:t>
            </a:r>
          </a:p>
          <a:p>
            <a:r>
              <a:rPr lang="en-US" dirty="0"/>
              <a:t>approximation, (</a:t>
            </a:r>
            <a:r>
              <a:rPr lang="en-US" dirty="0" err="1"/>
              <a:t>horizontal_detail</a:t>
            </a:r>
            <a:r>
              <a:rPr lang="en-US" dirty="0"/>
              <a:t>, </a:t>
            </a:r>
            <a:r>
              <a:rPr lang="en-US" dirty="0" err="1"/>
              <a:t>vertical_detail</a:t>
            </a:r>
            <a:r>
              <a:rPr lang="en-US" dirty="0"/>
              <a:t>, </a:t>
            </a:r>
            <a:r>
              <a:rPr lang="en-US" dirty="0" err="1"/>
              <a:t>diagonal_detail</a:t>
            </a:r>
            <a:r>
              <a:rPr lang="en-US" dirty="0"/>
              <a:t>) = </a:t>
            </a:r>
            <a:r>
              <a:rPr lang="en-US" dirty="0" err="1"/>
              <a:t>coeffs</a:t>
            </a:r>
            <a:endParaRPr lang="en-US" dirty="0"/>
          </a:p>
          <a:p>
            <a:r>
              <a:rPr lang="en-US" dirty="0" err="1"/>
              <a:t>compression_threshold</a:t>
            </a:r>
            <a:r>
              <a:rPr lang="en-US" dirty="0"/>
              <a:t> = 20</a:t>
            </a:r>
          </a:p>
          <a:p>
            <a:r>
              <a:rPr lang="en-US" dirty="0" err="1"/>
              <a:t>horizontal_detail_thresholded</a:t>
            </a:r>
            <a:r>
              <a:rPr lang="en-US" dirty="0"/>
              <a:t> = </a:t>
            </a:r>
            <a:r>
              <a:rPr lang="en-US" dirty="0" err="1"/>
              <a:t>pywt.threshold</a:t>
            </a:r>
            <a:r>
              <a:rPr lang="en-US" dirty="0"/>
              <a:t>(</a:t>
            </a:r>
            <a:r>
              <a:rPr lang="en-US" dirty="0" err="1"/>
              <a:t>horizontal_detail</a:t>
            </a:r>
            <a:r>
              <a:rPr lang="en-US" dirty="0"/>
              <a:t>, </a:t>
            </a:r>
            <a:r>
              <a:rPr lang="en-US" dirty="0" err="1"/>
              <a:t>compression_threshold</a:t>
            </a:r>
            <a:r>
              <a:rPr lang="en-US" dirty="0"/>
              <a:t>, mode='soft')</a:t>
            </a:r>
          </a:p>
          <a:p>
            <a:r>
              <a:rPr lang="en-US" dirty="0" err="1"/>
              <a:t>vertical_detail_thresholded</a:t>
            </a:r>
            <a:r>
              <a:rPr lang="en-US" dirty="0"/>
              <a:t> = </a:t>
            </a:r>
            <a:r>
              <a:rPr lang="en-US" dirty="0" err="1"/>
              <a:t>pywt.threshold</a:t>
            </a:r>
            <a:r>
              <a:rPr lang="en-US" dirty="0"/>
              <a:t>(</a:t>
            </a:r>
            <a:r>
              <a:rPr lang="en-US" dirty="0" err="1"/>
              <a:t>vertical_detail</a:t>
            </a:r>
            <a:r>
              <a:rPr lang="en-US" dirty="0"/>
              <a:t>, </a:t>
            </a:r>
            <a:r>
              <a:rPr lang="en-US" dirty="0" err="1"/>
              <a:t>compression_threshold</a:t>
            </a:r>
            <a:r>
              <a:rPr lang="en-US" dirty="0"/>
              <a:t>, mode='soft')</a:t>
            </a:r>
          </a:p>
          <a:p>
            <a:r>
              <a:rPr lang="en-US" dirty="0" err="1"/>
              <a:t>diagonal_detail_thresholded</a:t>
            </a:r>
            <a:r>
              <a:rPr lang="en-US" dirty="0"/>
              <a:t> = </a:t>
            </a:r>
            <a:r>
              <a:rPr lang="en-US" dirty="0" err="1"/>
              <a:t>pywt.threshold</a:t>
            </a:r>
            <a:r>
              <a:rPr lang="en-US" dirty="0"/>
              <a:t>(</a:t>
            </a:r>
            <a:r>
              <a:rPr lang="en-US" dirty="0" err="1"/>
              <a:t>diagonal_detail</a:t>
            </a:r>
            <a:r>
              <a:rPr lang="en-US" dirty="0"/>
              <a:t>, </a:t>
            </a:r>
            <a:r>
              <a:rPr lang="en-US" dirty="0" err="1"/>
              <a:t>compression_threshold</a:t>
            </a:r>
            <a:r>
              <a:rPr lang="en-US" dirty="0"/>
              <a:t>, mode='soft')</a:t>
            </a:r>
          </a:p>
          <a:p>
            <a:r>
              <a:rPr lang="en-US" dirty="0" err="1"/>
              <a:t>compressed_image_coeffs</a:t>
            </a:r>
            <a:r>
              <a:rPr lang="en-US" dirty="0"/>
              <a:t> = (approximation, (</a:t>
            </a:r>
            <a:r>
              <a:rPr lang="en-US" dirty="0" err="1"/>
              <a:t>horizontal_detail_thresholded</a:t>
            </a:r>
            <a:r>
              <a:rPr lang="en-US" dirty="0"/>
              <a:t>, </a:t>
            </a:r>
            <a:r>
              <a:rPr lang="en-US" dirty="0" err="1"/>
              <a:t>vertical_detail_thresholded</a:t>
            </a:r>
            <a:r>
              <a:rPr lang="en-US" dirty="0"/>
              <a:t>, </a:t>
            </a:r>
            <a:r>
              <a:rPr lang="en-US" dirty="0" err="1"/>
              <a:t>diagonal_detail_thresholded</a:t>
            </a:r>
            <a:r>
              <a:rPr lang="en-US" dirty="0"/>
              <a:t>))</a:t>
            </a:r>
          </a:p>
          <a:p>
            <a:r>
              <a:rPr lang="en-US" dirty="0" err="1"/>
              <a:t>compressed_image</a:t>
            </a:r>
            <a:r>
              <a:rPr lang="en-US" dirty="0"/>
              <a:t> = pywt.idwt2(</a:t>
            </a:r>
            <a:r>
              <a:rPr lang="en-US" dirty="0" err="1"/>
              <a:t>compressed_image_coeffs</a:t>
            </a:r>
            <a:r>
              <a:rPr lang="en-US" dirty="0"/>
              <a:t>, 'db6')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1" y="2772228"/>
            <a:ext cx="5849257" cy="3482411"/>
          </a:xfrm>
        </p:spPr>
      </p:pic>
    </p:spTree>
    <p:extLst>
      <p:ext uri="{BB962C8B-B14F-4D97-AF65-F5344CB8AC3E}">
        <p14:creationId xmlns:p14="http://schemas.microsoft.com/office/powerpoint/2010/main" val="2897915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0" y="184831"/>
            <a:ext cx="3547533" cy="1618396"/>
          </a:xfrm>
        </p:spPr>
        <p:txBody>
          <a:bodyPr/>
          <a:lstStyle/>
          <a:p>
            <a:pPr algn="ctr"/>
            <a:r>
              <a:rPr lang="en-US" sz="2800" b="0" dirty="0"/>
              <a:t>A</a:t>
            </a:r>
            <a:r>
              <a:rPr lang="en-US" sz="2800" b="0" dirty="0" smtClean="0"/>
              <a:t>pproximation </a:t>
            </a:r>
            <a:r>
              <a:rPr lang="en-US" sz="2800" b="0" dirty="0"/>
              <a:t>and detail coefficients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1165" y="1164543"/>
            <a:ext cx="5967306" cy="5414963"/>
          </a:xfrm>
        </p:spPr>
        <p:txBody>
          <a:bodyPr/>
          <a:lstStyle/>
          <a:p>
            <a:r>
              <a:rPr lang="en-US" b="1" dirty="0"/>
              <a:t>Python code:</a:t>
            </a:r>
          </a:p>
          <a:p>
            <a:pPr marL="0" indent="0">
              <a:buNone/>
            </a:pPr>
            <a:r>
              <a:rPr lang="en-US" dirty="0" err="1"/>
              <a:t>image_path</a:t>
            </a:r>
            <a:r>
              <a:rPr lang="en-US" dirty="0"/>
              <a:t> = 'D://Dataset//5.3.01.tiff'</a:t>
            </a:r>
          </a:p>
          <a:p>
            <a:pPr marL="0" indent="0">
              <a:buNone/>
            </a:pPr>
            <a:r>
              <a:rPr lang="en-US" dirty="0"/>
              <a:t>image = </a:t>
            </a:r>
            <a:r>
              <a:rPr lang="en-US" dirty="0" err="1"/>
              <a:t>io.imread</a:t>
            </a:r>
            <a:r>
              <a:rPr lang="en-US" dirty="0"/>
              <a:t>(</a:t>
            </a:r>
            <a:r>
              <a:rPr lang="en-US" dirty="0" err="1"/>
              <a:t>image_path</a:t>
            </a:r>
            <a:r>
              <a:rPr lang="en-US" dirty="0"/>
              <a:t>, </a:t>
            </a:r>
            <a:r>
              <a:rPr lang="en-US" dirty="0" err="1"/>
              <a:t>as_gray</a:t>
            </a:r>
            <a:r>
              <a:rPr lang="en-US" dirty="0"/>
              <a:t>=True)</a:t>
            </a:r>
          </a:p>
          <a:p>
            <a:pPr marL="0" indent="0">
              <a:buNone/>
            </a:pPr>
            <a:r>
              <a:rPr lang="en-US" dirty="0" err="1"/>
              <a:t>coeffs</a:t>
            </a:r>
            <a:r>
              <a:rPr lang="en-US" dirty="0"/>
              <a:t> = pywt.dwt2(image, '</a:t>
            </a:r>
            <a:r>
              <a:rPr lang="en-US" dirty="0" err="1"/>
              <a:t>haar</a:t>
            </a:r>
            <a:r>
              <a:rPr lang="en-US" dirty="0"/>
              <a:t>')</a:t>
            </a:r>
          </a:p>
          <a:p>
            <a:pPr marL="0" indent="0">
              <a:buNone/>
            </a:pPr>
            <a:r>
              <a:rPr lang="en-US" dirty="0" err="1"/>
              <a:t>cA</a:t>
            </a:r>
            <a:r>
              <a:rPr lang="en-US" dirty="0"/>
              <a:t>, (</a:t>
            </a:r>
            <a:r>
              <a:rPr lang="en-US" dirty="0" err="1"/>
              <a:t>cH</a:t>
            </a:r>
            <a:r>
              <a:rPr lang="en-US" dirty="0"/>
              <a:t>, </a:t>
            </a:r>
            <a:r>
              <a:rPr lang="en-US" dirty="0" err="1"/>
              <a:t>cV</a:t>
            </a:r>
            <a:r>
              <a:rPr lang="en-US" dirty="0"/>
              <a:t>, </a:t>
            </a:r>
            <a:r>
              <a:rPr lang="en-US" dirty="0" err="1"/>
              <a:t>cD</a:t>
            </a:r>
            <a:r>
              <a:rPr lang="en-US" dirty="0"/>
              <a:t>) = </a:t>
            </a:r>
            <a:r>
              <a:rPr lang="en-US" dirty="0" err="1"/>
              <a:t>coeffs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cA_log</a:t>
            </a:r>
            <a:r>
              <a:rPr lang="en-US" dirty="0"/>
              <a:t> = np.log10(1 + </a:t>
            </a:r>
            <a:r>
              <a:rPr lang="en-US" dirty="0" err="1"/>
              <a:t>np.abs</a:t>
            </a:r>
            <a:r>
              <a:rPr lang="en-US" dirty="0"/>
              <a:t>(</a:t>
            </a:r>
            <a:r>
              <a:rPr lang="en-US" dirty="0" err="1"/>
              <a:t>cA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 err="1"/>
              <a:t>cH_log</a:t>
            </a:r>
            <a:r>
              <a:rPr lang="en-US" dirty="0"/>
              <a:t> = np.log10(1 + </a:t>
            </a:r>
            <a:r>
              <a:rPr lang="en-US" dirty="0" err="1"/>
              <a:t>np.abs</a:t>
            </a:r>
            <a:r>
              <a:rPr lang="en-US" dirty="0"/>
              <a:t>(</a:t>
            </a:r>
            <a:r>
              <a:rPr lang="en-US" dirty="0" err="1"/>
              <a:t>cH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 err="1"/>
              <a:t>cV_log</a:t>
            </a:r>
            <a:r>
              <a:rPr lang="en-US" dirty="0"/>
              <a:t> = np.log10(1 + </a:t>
            </a:r>
            <a:r>
              <a:rPr lang="en-US" dirty="0" err="1"/>
              <a:t>np.abs</a:t>
            </a:r>
            <a:r>
              <a:rPr lang="en-US" dirty="0"/>
              <a:t>(</a:t>
            </a:r>
            <a:r>
              <a:rPr lang="en-US" dirty="0" err="1"/>
              <a:t>cV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 err="1"/>
              <a:t>cD_log</a:t>
            </a:r>
            <a:r>
              <a:rPr lang="en-US" dirty="0"/>
              <a:t> = np.log10(1 + </a:t>
            </a:r>
            <a:r>
              <a:rPr lang="en-US" dirty="0" err="1"/>
              <a:t>np.abs</a:t>
            </a:r>
            <a:r>
              <a:rPr lang="en-US" dirty="0"/>
              <a:t>(</a:t>
            </a:r>
            <a:r>
              <a:rPr lang="en-US" dirty="0" err="1"/>
              <a:t>cD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=(12, 6))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8971" y="1803227"/>
            <a:ext cx="4455885" cy="3600311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/>
              <a:t>Here we will </a:t>
            </a:r>
            <a:r>
              <a:rPr lang="en-US" sz="1800" dirty="0"/>
              <a:t>perform a </a:t>
            </a:r>
            <a:r>
              <a:rPr lang="en-US" sz="1800" dirty="0" smtClean="0"/>
              <a:t>Discrete </a:t>
            </a:r>
            <a:r>
              <a:rPr lang="en-US" sz="1800" dirty="0"/>
              <a:t>Wavelet Transform (DWT) on an image using the </a:t>
            </a:r>
            <a:r>
              <a:rPr lang="en-US" sz="1800" dirty="0" err="1"/>
              <a:t>Haar</a:t>
            </a:r>
            <a:r>
              <a:rPr lang="en-US" sz="1800" dirty="0"/>
              <a:t> wavelet and visualize its approximation and detail coefficients.</a:t>
            </a:r>
          </a:p>
        </p:txBody>
      </p:sp>
    </p:spTree>
    <p:extLst>
      <p:ext uri="{BB962C8B-B14F-4D97-AF65-F5344CB8AC3E}">
        <p14:creationId xmlns:p14="http://schemas.microsoft.com/office/powerpoint/2010/main" val="46716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37" y="845284"/>
            <a:ext cx="10276125" cy="513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3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2" y="551542"/>
            <a:ext cx="3368220" cy="1077513"/>
          </a:xfrm>
        </p:spPr>
        <p:txBody>
          <a:bodyPr/>
          <a:lstStyle/>
          <a:p>
            <a:pPr algn="ctr"/>
            <a:r>
              <a:rPr lang="en-US" dirty="0"/>
              <a:t>High Pass Filtering Using Wavelets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253" y="3457301"/>
            <a:ext cx="6251575" cy="3125787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1887" y="2217195"/>
            <a:ext cx="4650376" cy="3600311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/>
              <a:t>If we look at a wavelet transform, then apart from the rescaled image in the top left, the rest is high frequency information</a:t>
            </a:r>
            <a:r>
              <a:rPr lang="en-US" sz="18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/>
              <a:t>We would expect then, that if we were to eliminate the top left corner, by setting all the transform values to zero, the result after inversion would be a high pass filtered version of the original image.</a:t>
            </a:r>
          </a:p>
        </p:txBody>
      </p:sp>
      <p:sp>
        <p:nvSpPr>
          <p:cNvPr id="6" name="Text Placeholder 3"/>
          <p:cNvSpPr txBox="1">
            <a:spLocks/>
          </p:cNvSpPr>
          <p:nvPr/>
        </p:nvSpPr>
        <p:spPr>
          <a:xfrm>
            <a:off x="5465763" y="181027"/>
            <a:ext cx="6552065" cy="360031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b="1" dirty="0" smtClean="0"/>
              <a:t>Python code:</a:t>
            </a:r>
          </a:p>
          <a:p>
            <a:pPr algn="just"/>
            <a:r>
              <a:rPr lang="en-US" sz="1800" dirty="0" err="1" smtClean="0"/>
              <a:t>coeffs</a:t>
            </a:r>
            <a:r>
              <a:rPr lang="en-US" sz="1800" dirty="0" smtClean="0"/>
              <a:t> </a:t>
            </a:r>
            <a:r>
              <a:rPr lang="en-US" sz="1800" dirty="0"/>
              <a:t>= pywt.dwt2(</a:t>
            </a:r>
            <a:r>
              <a:rPr lang="en-US" sz="1800" dirty="0" err="1"/>
              <a:t>gray_image</a:t>
            </a:r>
            <a:r>
              <a:rPr lang="en-US" sz="1800" dirty="0"/>
              <a:t>, 'db6')</a:t>
            </a:r>
          </a:p>
          <a:p>
            <a:pPr algn="just"/>
            <a:r>
              <a:rPr lang="en-US" sz="1800" dirty="0"/>
              <a:t>_, (</a:t>
            </a:r>
            <a:r>
              <a:rPr lang="en-US" sz="1800" dirty="0" err="1"/>
              <a:t>horizontal_detail</a:t>
            </a:r>
            <a:r>
              <a:rPr lang="en-US" sz="1800" dirty="0"/>
              <a:t>, </a:t>
            </a:r>
            <a:r>
              <a:rPr lang="en-US" sz="1800" dirty="0" err="1"/>
              <a:t>vertical_detail</a:t>
            </a:r>
            <a:r>
              <a:rPr lang="en-US" sz="1800" dirty="0"/>
              <a:t>, </a:t>
            </a:r>
            <a:r>
              <a:rPr lang="en-US" sz="1800" dirty="0" err="1"/>
              <a:t>diagonal_detail</a:t>
            </a:r>
            <a:r>
              <a:rPr lang="en-US" sz="1800" dirty="0"/>
              <a:t>) = </a:t>
            </a:r>
            <a:r>
              <a:rPr lang="en-US" sz="1800" dirty="0" err="1"/>
              <a:t>coeffs</a:t>
            </a:r>
            <a:endParaRPr lang="en-US" sz="1800" dirty="0"/>
          </a:p>
          <a:p>
            <a:pPr algn="just"/>
            <a:r>
              <a:rPr lang="en-US" sz="1800" dirty="0" err="1"/>
              <a:t>high_pass_filtered</a:t>
            </a:r>
            <a:r>
              <a:rPr lang="en-US" sz="1800" dirty="0"/>
              <a:t> = </a:t>
            </a:r>
            <a:r>
              <a:rPr lang="en-US" sz="1800" dirty="0" err="1"/>
              <a:t>np.sqrt</a:t>
            </a:r>
            <a:r>
              <a:rPr lang="en-US" sz="1800" dirty="0"/>
              <a:t>(</a:t>
            </a:r>
            <a:r>
              <a:rPr lang="en-US" sz="1800" dirty="0" err="1"/>
              <a:t>horizontal_detail</a:t>
            </a:r>
            <a:r>
              <a:rPr lang="en-US" sz="1800" dirty="0"/>
              <a:t>**2 + </a:t>
            </a:r>
            <a:r>
              <a:rPr lang="en-US" sz="1800" dirty="0" err="1"/>
              <a:t>vertical_detail</a:t>
            </a:r>
            <a:r>
              <a:rPr lang="en-US" sz="1800" dirty="0"/>
              <a:t>**2 + </a:t>
            </a:r>
            <a:r>
              <a:rPr lang="en-US" sz="1800" dirty="0" err="1"/>
              <a:t>diagonal_detail</a:t>
            </a:r>
            <a:r>
              <a:rPr lang="en-US" sz="1800" dirty="0"/>
              <a:t>**2)</a:t>
            </a:r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1122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/>
          <p:cNvSpPr txBox="1">
            <a:spLocks/>
          </p:cNvSpPr>
          <p:nvPr/>
        </p:nvSpPr>
        <p:spPr>
          <a:xfrm>
            <a:off x="109461" y="2161267"/>
            <a:ext cx="6131681" cy="4932135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b="1" dirty="0" smtClean="0"/>
              <a:t>Python code:</a:t>
            </a:r>
          </a:p>
          <a:p>
            <a:pPr algn="just"/>
            <a:r>
              <a:rPr lang="en-US" sz="1800" dirty="0" err="1"/>
              <a:t>noisy_image</a:t>
            </a:r>
            <a:r>
              <a:rPr lang="en-US" sz="1800" dirty="0"/>
              <a:t> = </a:t>
            </a:r>
            <a:r>
              <a:rPr lang="en-US" sz="1800" dirty="0" err="1"/>
              <a:t>random_noise</a:t>
            </a:r>
            <a:r>
              <a:rPr lang="en-US" sz="1800" dirty="0"/>
              <a:t>(</a:t>
            </a:r>
            <a:r>
              <a:rPr lang="en-US" sz="1800" dirty="0" err="1"/>
              <a:t>original_image</a:t>
            </a:r>
            <a:r>
              <a:rPr lang="en-US" sz="1800" dirty="0"/>
              <a:t>, mode='</a:t>
            </a:r>
            <a:r>
              <a:rPr lang="en-US" sz="1800" dirty="0" err="1"/>
              <a:t>gaussian</a:t>
            </a:r>
            <a:r>
              <a:rPr lang="en-US" sz="1800" dirty="0"/>
              <a:t>', </a:t>
            </a:r>
            <a:r>
              <a:rPr lang="en-US" sz="1800" dirty="0" err="1"/>
              <a:t>var</a:t>
            </a:r>
            <a:r>
              <a:rPr lang="en-US" sz="1800" dirty="0"/>
              <a:t>=0.01)</a:t>
            </a:r>
          </a:p>
          <a:p>
            <a:pPr algn="just"/>
            <a:r>
              <a:rPr lang="en-US" sz="1800" dirty="0" err="1"/>
              <a:t>coeffs</a:t>
            </a:r>
            <a:r>
              <a:rPr lang="en-US" sz="1800" dirty="0"/>
              <a:t> = pywt.dwt2(</a:t>
            </a:r>
            <a:r>
              <a:rPr lang="en-US" sz="1800" dirty="0" err="1"/>
              <a:t>noisy_image</a:t>
            </a:r>
            <a:r>
              <a:rPr lang="en-US" sz="1800" dirty="0"/>
              <a:t>, 'db6')</a:t>
            </a:r>
          </a:p>
          <a:p>
            <a:pPr algn="just"/>
            <a:r>
              <a:rPr lang="en-US" sz="1800" dirty="0"/>
              <a:t>approximation, </a:t>
            </a:r>
            <a:r>
              <a:rPr lang="en-US" sz="1800" dirty="0" err="1"/>
              <a:t>detail_coeffs</a:t>
            </a:r>
            <a:r>
              <a:rPr lang="en-US" sz="1800" dirty="0"/>
              <a:t> = </a:t>
            </a:r>
            <a:r>
              <a:rPr lang="en-US" sz="1800" dirty="0" err="1"/>
              <a:t>coeffs</a:t>
            </a:r>
            <a:endParaRPr lang="en-US" sz="1800" dirty="0"/>
          </a:p>
          <a:p>
            <a:pPr algn="just"/>
            <a:r>
              <a:rPr lang="en-US" sz="1800" dirty="0"/>
              <a:t>sigma = 0.9</a:t>
            </a:r>
          </a:p>
          <a:p>
            <a:pPr algn="just"/>
            <a:r>
              <a:rPr lang="en-US" sz="1800" dirty="0" err="1"/>
              <a:t>denoised_detail_coeffs</a:t>
            </a:r>
            <a:r>
              <a:rPr lang="en-US" sz="1800" dirty="0"/>
              <a:t> = [</a:t>
            </a:r>
            <a:r>
              <a:rPr lang="en-US" sz="1800" dirty="0" err="1"/>
              <a:t>denoise_wavelet</a:t>
            </a:r>
            <a:r>
              <a:rPr lang="en-US" sz="1800" dirty="0"/>
              <a:t>(detail, wavelet='db6', mode='soft', </a:t>
            </a:r>
            <a:r>
              <a:rPr lang="en-US" sz="1800" dirty="0" err="1"/>
              <a:t>wavelet_levels</a:t>
            </a:r>
            <a:r>
              <a:rPr lang="en-US" sz="1800" dirty="0"/>
              <a:t>=3, sigma=sigma) for detail in </a:t>
            </a:r>
            <a:r>
              <a:rPr lang="en-US" sz="1800" dirty="0" err="1"/>
              <a:t>detail_coeffs</a:t>
            </a:r>
            <a:r>
              <a:rPr lang="en-US" sz="1800" dirty="0"/>
              <a:t>]</a:t>
            </a:r>
          </a:p>
          <a:p>
            <a:pPr algn="just"/>
            <a:r>
              <a:rPr lang="en-US" sz="1800" dirty="0" err="1"/>
              <a:t>denoised_image</a:t>
            </a:r>
            <a:r>
              <a:rPr lang="en-US" sz="1800" dirty="0"/>
              <a:t> = pywt.idwt2((approximation, </a:t>
            </a:r>
            <a:r>
              <a:rPr lang="en-US" sz="1800" dirty="0" err="1"/>
              <a:t>denoised_detail_coeffs</a:t>
            </a:r>
            <a:r>
              <a:rPr lang="en-US" sz="1800" dirty="0"/>
              <a:t>), 'db6')</a:t>
            </a:r>
          </a:p>
          <a:p>
            <a:pPr algn="just"/>
            <a:endParaRPr lang="en-US" sz="1800" dirty="0"/>
          </a:p>
        </p:txBody>
      </p:sp>
      <p:pic>
        <p:nvPicPr>
          <p:cNvPr id="3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742" y="2726607"/>
            <a:ext cx="5689602" cy="3801454"/>
          </a:xfrm>
          <a:prstGeom prst="rect">
            <a:avLst/>
          </a:prstGeom>
        </p:spPr>
      </p:pic>
      <p:sp>
        <p:nvSpPr>
          <p:cNvPr id="4" name="Text Placeholder 2"/>
          <p:cNvSpPr txBox="1">
            <a:spLocks/>
          </p:cNvSpPr>
          <p:nvPr/>
        </p:nvSpPr>
        <p:spPr>
          <a:xfrm>
            <a:off x="6342742" y="407639"/>
            <a:ext cx="5444607" cy="229552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smtClean="0"/>
              <a:t>We will use low pass filtering to remove noises from image as noise can be considered a high frequency component</a:t>
            </a:r>
          </a:p>
          <a:p>
            <a:pPr algn="just"/>
            <a:r>
              <a:rPr lang="en-US" dirty="0" smtClean="0"/>
              <a:t>we can remove such components by </a:t>
            </a:r>
            <a:r>
              <a:rPr lang="en-US" dirty="0" err="1" smtClean="0"/>
              <a:t>thresholding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4458" y="740227"/>
            <a:ext cx="4578467" cy="130866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US" sz="2800" dirty="0" smtClean="0"/>
          </a:p>
          <a:p>
            <a:pPr algn="ctr"/>
            <a:r>
              <a:rPr lang="en-US" sz="2800" dirty="0" err="1" smtClean="0"/>
              <a:t>Denoising</a:t>
            </a:r>
            <a:r>
              <a:rPr lang="en-US" sz="2800" dirty="0" smtClean="0"/>
              <a:t> Using Wavelets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0517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/>
          <p:cNvSpPr/>
          <p:nvPr/>
        </p:nvSpPr>
        <p:spPr>
          <a:xfrm>
            <a:off x="2579188" y="2252336"/>
            <a:ext cx="6720115" cy="1770743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09371" y="2676043"/>
            <a:ext cx="6720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/>
              <a:t>Special Effect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89656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575" y="1869900"/>
            <a:ext cx="4382521" cy="2007789"/>
          </a:xfrm>
        </p:spPr>
        <p:txBody>
          <a:bodyPr/>
          <a:lstStyle/>
          <a:p>
            <a:r>
              <a:rPr lang="en-US" sz="4800" dirty="0"/>
              <a:t>Special Effect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406605" y="1869900"/>
            <a:ext cx="5413830" cy="4876801"/>
          </a:xfrm>
        </p:spPr>
        <p:txBody>
          <a:bodyPr/>
          <a:lstStyle/>
          <a:p>
            <a:pPr algn="just"/>
            <a:r>
              <a:rPr lang="en-US" dirty="0"/>
              <a:t>In this session, we will explore special effects.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Special effects are a key component of modern image processing, adding creativity and uniqueness to images.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Special effects refer to various techniques used to manipulate images in ways that go beyond traditional enhancement.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We </a:t>
            </a:r>
            <a:r>
              <a:rPr lang="en-US" dirty="0"/>
              <a:t>may want to do this for effect alone, or simply for fun.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8692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111" y="476217"/>
            <a:ext cx="10571998" cy="970450"/>
          </a:xfrm>
        </p:spPr>
        <p:txBody>
          <a:bodyPr/>
          <a:lstStyle/>
          <a:p>
            <a:pPr algn="ctr"/>
            <a:r>
              <a:rPr lang="en-US" sz="5400" dirty="0"/>
              <a:t>Special Effect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47143" y="2549026"/>
            <a:ext cx="10556966" cy="430897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/>
              <a:t>There are  many different effects possible, and here we shall look at a few of </a:t>
            </a:r>
            <a:r>
              <a:rPr lang="en-US" dirty="0" smtClean="0"/>
              <a:t>them-</a:t>
            </a:r>
            <a:endParaRPr lang="en-US" dirty="0"/>
          </a:p>
          <a:p>
            <a:pPr algn="just"/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 Radial pixilation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Ripple Effects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General Distortion Effects(Fisheye and twirls, Jitter and circular slice,  The fuzzy effect, Jitter and circular slice, The fuzzy effect 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Pixel Effects(The oil painting effect, </a:t>
            </a:r>
            <a:r>
              <a:rPr lang="en-US" dirty="0" err="1" smtClean="0"/>
              <a:t>solarization</a:t>
            </a:r>
            <a:r>
              <a:rPr lang="en-US" dirty="0" smtClean="0"/>
              <a:t> effect)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59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20149" y="5782492"/>
            <a:ext cx="331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Radial </a:t>
            </a:r>
            <a:r>
              <a:rPr lang="en-US" dirty="0" err="1" smtClean="0"/>
              <a:t>pixelation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32809" y="0"/>
            <a:ext cx="3547533" cy="1618396"/>
          </a:xfrm>
        </p:spPr>
        <p:txBody>
          <a:bodyPr/>
          <a:lstStyle/>
          <a:p>
            <a:r>
              <a:rPr lang="en-US" sz="2800" dirty="0"/>
              <a:t>Radial </a:t>
            </a:r>
            <a:r>
              <a:rPr lang="en-US" sz="2800" dirty="0" err="1"/>
              <a:t>pixelation</a:t>
            </a:r>
            <a:endParaRPr lang="en-US" sz="2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259834" y="2235200"/>
            <a:ext cx="4731656" cy="4884057"/>
          </a:xfrm>
        </p:spPr>
        <p:txBody>
          <a:bodyPr>
            <a:noAutofit/>
          </a:bodyPr>
          <a:lstStyle/>
          <a:p>
            <a:r>
              <a:rPr lang="en-US" sz="1800" b="1" dirty="0"/>
              <a:t>Python </a:t>
            </a:r>
            <a:r>
              <a:rPr lang="en-US" sz="1800" b="1" dirty="0" smtClean="0"/>
              <a:t>code:</a:t>
            </a:r>
          </a:p>
          <a:p>
            <a:r>
              <a:rPr lang="en-US" sz="1800" dirty="0" err="1" smtClean="0"/>
              <a:t>fg</a:t>
            </a:r>
            <a:r>
              <a:rPr lang="en-US" sz="1800" dirty="0" smtClean="0"/>
              <a:t> </a:t>
            </a:r>
            <a:r>
              <a:rPr lang="en-US" sz="1800" dirty="0"/>
              <a:t>= color.rgb2gray(f)</a:t>
            </a:r>
          </a:p>
          <a:p>
            <a:r>
              <a:rPr lang="en-US" sz="1800" dirty="0"/>
              <a:t>ox = oy = 0</a:t>
            </a:r>
          </a:p>
          <a:p>
            <a:r>
              <a:rPr lang="en-US" sz="1800" dirty="0"/>
              <a:t>rows, cols = </a:t>
            </a:r>
            <a:r>
              <a:rPr lang="en-US" sz="1800" dirty="0" err="1"/>
              <a:t>fg.shape</a:t>
            </a:r>
            <a:endParaRPr lang="en-US" sz="1800" dirty="0"/>
          </a:p>
          <a:p>
            <a:r>
              <a:rPr lang="en-US" sz="1800" dirty="0"/>
              <a:t>y, x = </a:t>
            </a:r>
            <a:r>
              <a:rPr lang="en-US" sz="1800" dirty="0" err="1"/>
              <a:t>np.indices</a:t>
            </a:r>
            <a:r>
              <a:rPr lang="en-US" sz="1800" dirty="0"/>
              <a:t>((rows, cols))</a:t>
            </a:r>
          </a:p>
          <a:p>
            <a:r>
              <a:rPr lang="en-US" sz="1800" dirty="0"/>
              <a:t>r = </a:t>
            </a:r>
            <a:r>
              <a:rPr lang="en-US" sz="1800" dirty="0" err="1"/>
              <a:t>np.sqrt</a:t>
            </a:r>
            <a:r>
              <a:rPr lang="en-US" sz="1800" dirty="0"/>
              <a:t>((x - ox)**2 + (y - oy)**2)</a:t>
            </a:r>
          </a:p>
          <a:p>
            <a:r>
              <a:rPr lang="en-US" sz="1800" dirty="0"/>
              <a:t>step = 10</a:t>
            </a:r>
          </a:p>
          <a:p>
            <a:r>
              <a:rPr lang="en-US" sz="1800" dirty="0"/>
              <a:t>x2 = (r // step) * step + step // </a:t>
            </a:r>
            <a:r>
              <a:rPr lang="en-US" sz="1800" dirty="0" smtClean="0"/>
              <a:t>2,y2 </a:t>
            </a:r>
            <a:r>
              <a:rPr lang="en-US" sz="1800" dirty="0"/>
              <a:t>= x2</a:t>
            </a:r>
          </a:p>
          <a:p>
            <a:r>
              <a:rPr lang="en-US" sz="1800" dirty="0"/>
              <a:t>x2 = </a:t>
            </a:r>
            <a:r>
              <a:rPr lang="en-US" sz="1800" dirty="0" err="1"/>
              <a:t>np.clip</a:t>
            </a:r>
            <a:r>
              <a:rPr lang="en-US" sz="1800" dirty="0"/>
              <a:t>(x2, 0, cols - 1).</a:t>
            </a:r>
            <a:r>
              <a:rPr lang="en-US" sz="1800" dirty="0" err="1"/>
              <a:t>astype</a:t>
            </a:r>
            <a:r>
              <a:rPr lang="en-US" sz="1800" dirty="0"/>
              <a:t>(</a:t>
            </a:r>
            <a:r>
              <a:rPr lang="en-US" sz="1800" dirty="0" err="1"/>
              <a:t>int</a:t>
            </a:r>
            <a:r>
              <a:rPr lang="en-US" sz="1800" dirty="0"/>
              <a:t>)</a:t>
            </a:r>
          </a:p>
          <a:p>
            <a:r>
              <a:rPr lang="en-US" sz="1800" dirty="0"/>
              <a:t>y2 = </a:t>
            </a:r>
            <a:r>
              <a:rPr lang="en-US" sz="1800" dirty="0" err="1"/>
              <a:t>np.clip</a:t>
            </a:r>
            <a:r>
              <a:rPr lang="en-US" sz="1800" dirty="0"/>
              <a:t>(y2, 0, rows - 1).</a:t>
            </a:r>
            <a:r>
              <a:rPr lang="en-US" sz="1800" dirty="0" err="1"/>
              <a:t>astype</a:t>
            </a:r>
            <a:r>
              <a:rPr lang="en-US" sz="1800" dirty="0"/>
              <a:t>(</a:t>
            </a:r>
            <a:r>
              <a:rPr lang="en-US" sz="1800" dirty="0" err="1"/>
              <a:t>int</a:t>
            </a:r>
            <a:r>
              <a:rPr lang="en-US" sz="1800" dirty="0"/>
              <a:t>)</a:t>
            </a:r>
          </a:p>
          <a:p>
            <a:r>
              <a:rPr lang="en-US" sz="1800" dirty="0"/>
              <a:t>f2 = </a:t>
            </a:r>
            <a:r>
              <a:rPr lang="en-US" sz="1800" dirty="0" err="1"/>
              <a:t>fg</a:t>
            </a:r>
            <a:r>
              <a:rPr lang="en-US" sz="1800" dirty="0"/>
              <a:t>[y2, x2]</a:t>
            </a:r>
          </a:p>
        </p:txBody>
      </p:sp>
      <p:pic>
        <p:nvPicPr>
          <p:cNvPr id="7" name="Picture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202637" y="959004"/>
            <a:ext cx="5558627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100" y="580572"/>
            <a:ext cx="3547533" cy="1062998"/>
          </a:xfrm>
        </p:spPr>
        <p:txBody>
          <a:bodyPr/>
          <a:lstStyle/>
          <a:p>
            <a:r>
              <a:rPr lang="en-US" sz="3200" dirty="0"/>
              <a:t>Ripple Effects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7965" y="2219234"/>
            <a:ext cx="4688114" cy="4521200"/>
          </a:xfrm>
        </p:spPr>
        <p:txBody>
          <a:bodyPr>
            <a:noAutofit/>
          </a:bodyPr>
          <a:lstStyle/>
          <a:p>
            <a:r>
              <a:rPr lang="en-US" sz="1800" b="1" dirty="0"/>
              <a:t>Python code:</a:t>
            </a:r>
          </a:p>
          <a:p>
            <a:r>
              <a:rPr lang="en-US" sz="1800" dirty="0" err="1"/>
              <a:t>fg</a:t>
            </a:r>
            <a:r>
              <a:rPr lang="en-US" sz="1800" dirty="0"/>
              <a:t> = color.rgb2gray(f)</a:t>
            </a:r>
          </a:p>
          <a:p>
            <a:r>
              <a:rPr lang="en-US" sz="1800" dirty="0"/>
              <a:t>y, x = </a:t>
            </a:r>
            <a:r>
              <a:rPr lang="en-US" sz="1800" dirty="0" err="1"/>
              <a:t>np.indices</a:t>
            </a:r>
            <a:r>
              <a:rPr lang="en-US" sz="1800" dirty="0"/>
              <a:t>((cols, rows))</a:t>
            </a:r>
          </a:p>
          <a:p>
            <a:r>
              <a:rPr lang="en-US" sz="1800" dirty="0"/>
              <a:t>x2 = clip(x + x % 32, 0, rows - 1)</a:t>
            </a:r>
          </a:p>
          <a:p>
            <a:r>
              <a:rPr lang="en-US" sz="1800" dirty="0"/>
              <a:t>ripple1 = </a:t>
            </a:r>
            <a:r>
              <a:rPr lang="en-US" sz="1800" dirty="0" err="1"/>
              <a:t>np.reshape</a:t>
            </a:r>
            <a:r>
              <a:rPr lang="en-US" sz="1800" dirty="0"/>
              <a:t>(</a:t>
            </a:r>
            <a:r>
              <a:rPr lang="en-US" sz="1800" dirty="0" err="1"/>
              <a:t>fg</a:t>
            </a:r>
            <a:r>
              <a:rPr lang="en-US" sz="1800" dirty="0"/>
              <a:t>[x2.ravel(), </a:t>
            </a:r>
            <a:r>
              <a:rPr lang="en-US" sz="1800" dirty="0" err="1"/>
              <a:t>y.ravel</a:t>
            </a:r>
            <a:r>
              <a:rPr lang="en-US" sz="1800" dirty="0"/>
              <a:t>()], (cols, rows)).T</a:t>
            </a:r>
          </a:p>
          <a:p>
            <a:r>
              <a:rPr lang="en-US" sz="1800" dirty="0"/>
              <a:t>y2 = clip(y + y % 32, 0, cols - 1)</a:t>
            </a:r>
          </a:p>
          <a:p>
            <a:r>
              <a:rPr lang="en-US" sz="1800" dirty="0"/>
              <a:t>ripple2 = </a:t>
            </a:r>
            <a:r>
              <a:rPr lang="en-US" sz="1800" dirty="0" err="1"/>
              <a:t>np.reshape</a:t>
            </a:r>
            <a:r>
              <a:rPr lang="en-US" sz="1800" dirty="0"/>
              <a:t>(</a:t>
            </a:r>
            <a:r>
              <a:rPr lang="en-US" sz="1800" dirty="0" err="1"/>
              <a:t>fg</a:t>
            </a:r>
            <a:r>
              <a:rPr lang="en-US" sz="1800" dirty="0"/>
              <a:t>[</a:t>
            </a:r>
            <a:r>
              <a:rPr lang="en-US" sz="1800" dirty="0" err="1"/>
              <a:t>x.ravel</a:t>
            </a:r>
            <a:r>
              <a:rPr lang="en-US" sz="1800" dirty="0"/>
              <a:t>(), y2.ravel()], (rows, cols)).T</a:t>
            </a:r>
          </a:p>
          <a:p>
            <a:r>
              <a:rPr lang="en-US" sz="1800" dirty="0"/>
              <a:t>y3 = clip(y + y % 32, 0, cols - 1)</a:t>
            </a:r>
          </a:p>
          <a:p>
            <a:r>
              <a:rPr lang="en-US" sz="1800" dirty="0"/>
              <a:t>ripple3 = </a:t>
            </a:r>
            <a:r>
              <a:rPr lang="en-US" sz="1800" dirty="0" err="1"/>
              <a:t>np.reshape</a:t>
            </a:r>
            <a:r>
              <a:rPr lang="en-US" sz="1800" dirty="0"/>
              <a:t>(</a:t>
            </a:r>
            <a:r>
              <a:rPr lang="en-US" sz="1800" dirty="0" err="1"/>
              <a:t>fg</a:t>
            </a:r>
            <a:r>
              <a:rPr lang="en-US" sz="1800" dirty="0"/>
              <a:t>[x2.ravel(), y3.ravel()], (cols, rows)).</a:t>
            </a:r>
            <a:r>
              <a:rPr lang="en-US" sz="1800" dirty="0" smtClean="0"/>
              <a:t>T</a:t>
            </a:r>
            <a:endParaRPr lang="en-US" sz="1800" dirty="0"/>
          </a:p>
        </p:txBody>
      </p:sp>
      <p:pic>
        <p:nvPicPr>
          <p:cNvPr id="5" name="Picture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901679" y="1112071"/>
            <a:ext cx="5558627" cy="4389129"/>
          </a:xfrm>
        </p:spPr>
      </p:pic>
      <p:sp>
        <p:nvSpPr>
          <p:cNvPr id="6" name="TextBox 5"/>
          <p:cNvSpPr txBox="1"/>
          <p:nvPr/>
        </p:nvSpPr>
        <p:spPr>
          <a:xfrm>
            <a:off x="7779657" y="5624132"/>
            <a:ext cx="331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Ripple Effects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62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39" y="420914"/>
            <a:ext cx="3547533" cy="1303745"/>
          </a:xfrm>
        </p:spPr>
        <p:txBody>
          <a:bodyPr/>
          <a:lstStyle/>
          <a:p>
            <a:pPr algn="ctr"/>
            <a:r>
              <a:rPr lang="en-US" dirty="0"/>
              <a:t>General Distortion Effects</a:t>
            </a:r>
            <a:br>
              <a:rPr lang="en-US" dirty="0"/>
            </a:br>
            <a:r>
              <a:rPr lang="en-US" dirty="0"/>
              <a:t>Fisheye and twirls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6" y="2536510"/>
            <a:ext cx="3988653" cy="3893319"/>
          </a:xfrm>
        </p:spPr>
        <p:txBody>
          <a:bodyPr>
            <a:noAutofit/>
          </a:bodyPr>
          <a:lstStyle/>
          <a:p>
            <a:r>
              <a:rPr lang="en-US" sz="1800" b="1" dirty="0"/>
              <a:t>Python code:</a:t>
            </a:r>
          </a:p>
          <a:p>
            <a:r>
              <a:rPr lang="en-US" sz="1800" dirty="0"/>
              <a:t>#</a:t>
            </a:r>
            <a:r>
              <a:rPr lang="en-US" sz="1800" dirty="0" err="1"/>
              <a:t>FishEye</a:t>
            </a:r>
            <a:endParaRPr lang="en-US" sz="1800" dirty="0"/>
          </a:p>
          <a:p>
            <a:r>
              <a:rPr lang="en-US" sz="1800" dirty="0" err="1"/>
              <a:t>r,theta,ox,oy</a:t>
            </a:r>
            <a:r>
              <a:rPr lang="en-US" sz="1800" dirty="0"/>
              <a:t> = </a:t>
            </a:r>
            <a:r>
              <a:rPr lang="en-US" sz="1800" dirty="0" err="1"/>
              <a:t>polarmesh</a:t>
            </a:r>
            <a:r>
              <a:rPr lang="en-US" sz="1800" dirty="0"/>
              <a:t>(</a:t>
            </a:r>
            <a:r>
              <a:rPr lang="en-US" sz="1800" dirty="0" err="1"/>
              <a:t>fg</a:t>
            </a:r>
            <a:r>
              <a:rPr lang="en-US" sz="1800" dirty="0"/>
              <a:t>)</a:t>
            </a:r>
          </a:p>
          <a:p>
            <a:r>
              <a:rPr lang="en-US" sz="1800" dirty="0"/>
              <a:t>s=r**2/</a:t>
            </a:r>
            <a:r>
              <a:rPr lang="en-US" sz="1800" dirty="0" err="1"/>
              <a:t>r.max</a:t>
            </a:r>
            <a:r>
              <a:rPr lang="en-US" sz="1800" dirty="0"/>
              <a:t>()</a:t>
            </a:r>
          </a:p>
          <a:p>
            <a:r>
              <a:rPr lang="en-US" sz="1800" dirty="0"/>
              <a:t>f2=polar2im(</a:t>
            </a:r>
            <a:r>
              <a:rPr lang="en-US" sz="1800" dirty="0" err="1"/>
              <a:t>s,theta,fg</a:t>
            </a:r>
            <a:r>
              <a:rPr lang="en-US" sz="1800" dirty="0"/>
              <a:t>)</a:t>
            </a:r>
          </a:p>
          <a:p>
            <a:endParaRPr lang="en-US" sz="1800" dirty="0"/>
          </a:p>
          <a:p>
            <a:r>
              <a:rPr lang="en-US" sz="1800" dirty="0"/>
              <a:t>#Twirl</a:t>
            </a:r>
          </a:p>
          <a:p>
            <a:r>
              <a:rPr lang="en-US" sz="1800" dirty="0"/>
              <a:t>K=100</a:t>
            </a:r>
          </a:p>
          <a:p>
            <a:r>
              <a:rPr lang="en-US" sz="1800" dirty="0"/>
              <a:t>phi=theta+(r/K)</a:t>
            </a:r>
          </a:p>
          <a:p>
            <a:r>
              <a:rPr lang="en-US" sz="1800" dirty="0"/>
              <a:t>twirl=polar2im(</a:t>
            </a:r>
            <a:r>
              <a:rPr lang="en-US" sz="1800" dirty="0" err="1"/>
              <a:t>r,phi,fg</a:t>
            </a:r>
            <a:r>
              <a:rPr lang="en-US" sz="1800" dirty="0"/>
              <a:t>)</a:t>
            </a:r>
          </a:p>
        </p:txBody>
      </p:sp>
      <p:sp>
        <p:nvSpPr>
          <p:cNvPr id="6" name="Text Placeholder 3"/>
          <p:cNvSpPr txBox="1">
            <a:spLocks/>
          </p:cNvSpPr>
          <p:nvPr/>
        </p:nvSpPr>
        <p:spPr>
          <a:xfrm>
            <a:off x="839788" y="1449977"/>
            <a:ext cx="3932237" cy="441901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085875" y="5684322"/>
            <a:ext cx="451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</a:t>
            </a:r>
            <a:r>
              <a:rPr lang="en-US" dirty="0"/>
              <a:t>Fisheye and </a:t>
            </a:r>
            <a:r>
              <a:rPr lang="en-US" dirty="0" smtClean="0"/>
              <a:t>twirls effects</a:t>
            </a:r>
            <a:endParaRPr lang="en-US" dirty="0"/>
          </a:p>
        </p:txBody>
      </p:sp>
      <p:pic>
        <p:nvPicPr>
          <p:cNvPr id="9" name="Picture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947220" y="1072786"/>
            <a:ext cx="5558627" cy="438912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624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 Distortion Effects </a:t>
            </a:r>
            <a:br>
              <a:rPr lang="en-US" dirty="0"/>
            </a:br>
            <a:r>
              <a:rPr lang="en-US" dirty="0"/>
              <a:t>Jitter and circular slice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3758" y="2598921"/>
            <a:ext cx="3883591" cy="3600311"/>
          </a:xfrm>
        </p:spPr>
        <p:txBody>
          <a:bodyPr>
            <a:normAutofit/>
          </a:bodyPr>
          <a:lstStyle/>
          <a:p>
            <a:r>
              <a:rPr lang="en-US" sz="1800" b="1" dirty="0"/>
              <a:t>Python code:</a:t>
            </a:r>
          </a:p>
          <a:p>
            <a:r>
              <a:rPr lang="en-US" sz="1800" dirty="0"/>
              <a:t>#Jitter Effect</a:t>
            </a:r>
          </a:p>
          <a:p>
            <a:r>
              <a:rPr lang="en-US" sz="1800" dirty="0"/>
              <a:t>phi=theta+(theta%(8*</a:t>
            </a:r>
            <a:r>
              <a:rPr lang="en-US" sz="1800" dirty="0" err="1"/>
              <a:t>np.pi</a:t>
            </a:r>
            <a:r>
              <a:rPr lang="en-US" sz="1800" dirty="0"/>
              <a:t>/180))-4*</a:t>
            </a:r>
            <a:r>
              <a:rPr lang="en-US" sz="1800" dirty="0" err="1"/>
              <a:t>np.pi</a:t>
            </a:r>
            <a:r>
              <a:rPr lang="en-US" sz="1800" dirty="0"/>
              <a:t>/180</a:t>
            </a:r>
          </a:p>
          <a:p>
            <a:r>
              <a:rPr lang="en-US" sz="1800" dirty="0"/>
              <a:t>jitter=polar2im(</a:t>
            </a:r>
            <a:r>
              <a:rPr lang="en-US" sz="1800" dirty="0" err="1"/>
              <a:t>r,phi,fg</a:t>
            </a:r>
            <a:r>
              <a:rPr lang="en-US" sz="1800" dirty="0"/>
              <a:t>)</a:t>
            </a:r>
          </a:p>
          <a:p>
            <a:r>
              <a:rPr lang="en-US" sz="1800" dirty="0"/>
              <a:t>#Circular Slice</a:t>
            </a:r>
          </a:p>
          <a:p>
            <a:r>
              <a:rPr lang="en-US" sz="1800" dirty="0"/>
              <a:t>phi=theta+((r%6)*(</a:t>
            </a:r>
            <a:r>
              <a:rPr lang="en-US" sz="1800" dirty="0" err="1"/>
              <a:t>np.pi</a:t>
            </a:r>
            <a:r>
              <a:rPr lang="en-US" sz="1800" dirty="0"/>
              <a:t>/180))</a:t>
            </a:r>
          </a:p>
          <a:p>
            <a:r>
              <a:rPr lang="en-US" sz="1800" dirty="0" err="1"/>
              <a:t>circularSlice</a:t>
            </a:r>
            <a:r>
              <a:rPr lang="en-US" sz="1800" dirty="0"/>
              <a:t>=polar2im(</a:t>
            </a:r>
            <a:r>
              <a:rPr lang="en-US" sz="1800" dirty="0" err="1"/>
              <a:t>r,phi,fg</a:t>
            </a:r>
            <a:r>
              <a:rPr lang="en-US" sz="1800" dirty="0"/>
              <a:t>)</a:t>
            </a:r>
          </a:p>
          <a:p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7107645" y="5607831"/>
            <a:ext cx="397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</a:t>
            </a:r>
            <a:r>
              <a:rPr lang="en-US" dirty="0"/>
              <a:t>Jitter and circular </a:t>
            </a:r>
            <a:r>
              <a:rPr lang="en-US" dirty="0" smtClean="0"/>
              <a:t>slice effects</a:t>
            </a:r>
            <a:endParaRPr lang="en-US" dirty="0"/>
          </a:p>
        </p:txBody>
      </p:sp>
      <p:pic>
        <p:nvPicPr>
          <p:cNvPr id="9" name="Picture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6154057" y="1089632"/>
            <a:ext cx="5558627" cy="438912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944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0" y="537028"/>
            <a:ext cx="3547533" cy="1222655"/>
          </a:xfrm>
        </p:spPr>
        <p:txBody>
          <a:bodyPr/>
          <a:lstStyle/>
          <a:p>
            <a:pPr algn="ctr"/>
            <a:r>
              <a:rPr lang="en-US" dirty="0"/>
              <a:t>General Distortion Effects </a:t>
            </a:r>
            <a:br>
              <a:rPr lang="en-US" dirty="0"/>
            </a:br>
            <a:r>
              <a:rPr lang="en-US" dirty="0"/>
              <a:t> The fuzzy effect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008" y="2638009"/>
            <a:ext cx="4471306" cy="3600311"/>
          </a:xfrm>
        </p:spPr>
        <p:txBody>
          <a:bodyPr>
            <a:noAutofit/>
          </a:bodyPr>
          <a:lstStyle/>
          <a:p>
            <a:r>
              <a:rPr lang="en-US" sz="1800" b="1" dirty="0"/>
              <a:t>Python code:</a:t>
            </a:r>
          </a:p>
          <a:p>
            <a:r>
              <a:rPr lang="en-US" sz="1800" dirty="0"/>
              <a:t>#Fuzzy Effect</a:t>
            </a:r>
          </a:p>
          <a:p>
            <a:r>
              <a:rPr lang="en-US" sz="1800" dirty="0"/>
              <a:t>x2=</a:t>
            </a:r>
            <a:r>
              <a:rPr lang="en-US" sz="1800" dirty="0" err="1"/>
              <a:t>x+np.random.randint</a:t>
            </a:r>
            <a:r>
              <a:rPr lang="en-US" sz="1800" dirty="0"/>
              <a:t>(-3,3,size=(</a:t>
            </a:r>
            <a:r>
              <a:rPr lang="en-US" sz="1800" dirty="0" err="1"/>
              <a:t>rows,cols</a:t>
            </a:r>
            <a:r>
              <a:rPr lang="en-US" sz="1800" dirty="0"/>
              <a:t>))</a:t>
            </a:r>
          </a:p>
          <a:p>
            <a:r>
              <a:rPr lang="en-US" sz="1800" dirty="0"/>
              <a:t>y2=</a:t>
            </a:r>
            <a:r>
              <a:rPr lang="en-US" sz="1800" dirty="0" err="1"/>
              <a:t>y+np.random.randint</a:t>
            </a:r>
            <a:r>
              <a:rPr lang="en-US" sz="1800" dirty="0"/>
              <a:t>(-3,3,size=(</a:t>
            </a:r>
            <a:r>
              <a:rPr lang="en-US" sz="1800" dirty="0" err="1"/>
              <a:t>rows,cols</a:t>
            </a:r>
            <a:r>
              <a:rPr lang="en-US" sz="1800" dirty="0"/>
              <a:t>))</a:t>
            </a:r>
          </a:p>
          <a:p>
            <a:r>
              <a:rPr lang="en-US" sz="1800" dirty="0"/>
              <a:t>x2=clip(x2,0,rows-1).</a:t>
            </a:r>
            <a:r>
              <a:rPr lang="en-US" sz="1800" dirty="0" err="1"/>
              <a:t>astype</a:t>
            </a:r>
            <a:r>
              <a:rPr lang="en-US" sz="1800" dirty="0"/>
              <a:t>(</a:t>
            </a:r>
            <a:r>
              <a:rPr lang="en-US" sz="1800" dirty="0" err="1"/>
              <a:t>int</a:t>
            </a:r>
            <a:r>
              <a:rPr lang="en-US" sz="1800" dirty="0"/>
              <a:t>)</a:t>
            </a:r>
          </a:p>
          <a:p>
            <a:r>
              <a:rPr lang="en-US" sz="1800" dirty="0"/>
              <a:t>y2=clip(y2,0,cols-1).</a:t>
            </a:r>
            <a:r>
              <a:rPr lang="en-US" sz="1800" dirty="0" err="1"/>
              <a:t>astype</a:t>
            </a:r>
            <a:r>
              <a:rPr lang="en-US" sz="1800" dirty="0"/>
              <a:t>(</a:t>
            </a:r>
            <a:r>
              <a:rPr lang="en-US" sz="1800" dirty="0" err="1"/>
              <a:t>int</a:t>
            </a:r>
            <a:r>
              <a:rPr lang="en-US" sz="1800" dirty="0"/>
              <a:t>)</a:t>
            </a:r>
          </a:p>
          <a:p>
            <a:r>
              <a:rPr lang="en-US" sz="1800" dirty="0"/>
              <a:t>f2=</a:t>
            </a:r>
            <a:r>
              <a:rPr lang="en-US" sz="1800" dirty="0" err="1"/>
              <a:t>np.reshape</a:t>
            </a:r>
            <a:r>
              <a:rPr lang="en-US" sz="1800" dirty="0"/>
              <a:t>(</a:t>
            </a:r>
            <a:r>
              <a:rPr lang="en-US" sz="1800" dirty="0" err="1"/>
              <a:t>fg</a:t>
            </a:r>
            <a:r>
              <a:rPr lang="en-US" sz="1800" dirty="0"/>
              <a:t>[x2.ravel(),y2.ravel()],(</a:t>
            </a:r>
            <a:r>
              <a:rPr lang="en-US" sz="1800" dirty="0" err="1"/>
              <a:t>rows,cols</a:t>
            </a:r>
            <a:r>
              <a:rPr lang="en-US" sz="1800" dirty="0"/>
              <a:t>)).T</a:t>
            </a:r>
          </a:p>
          <a:p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7633062" y="5748520"/>
            <a:ext cx="331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</a:t>
            </a:r>
            <a:r>
              <a:rPr lang="en-US" dirty="0"/>
              <a:t> The fuzzy effect  </a:t>
            </a:r>
          </a:p>
        </p:txBody>
      </p:sp>
      <p:pic>
        <p:nvPicPr>
          <p:cNvPr id="9" name="Picture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829655" y="1148355"/>
            <a:ext cx="5558627" cy="438912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53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39" y="639081"/>
            <a:ext cx="3547533" cy="1077059"/>
          </a:xfrm>
        </p:spPr>
        <p:txBody>
          <a:bodyPr/>
          <a:lstStyle/>
          <a:p>
            <a:pPr algn="ctr"/>
            <a:r>
              <a:rPr lang="en-US" sz="2400" dirty="0"/>
              <a:t>Pixel Effects</a:t>
            </a:r>
            <a:br>
              <a:rPr lang="en-US" sz="2400" dirty="0"/>
            </a:br>
            <a:r>
              <a:rPr lang="en-US" sz="2400" dirty="0"/>
              <a:t>The oil painting effect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0351" y="2423886"/>
            <a:ext cx="4674505" cy="4290781"/>
          </a:xfrm>
        </p:spPr>
        <p:txBody>
          <a:bodyPr>
            <a:noAutofit/>
          </a:bodyPr>
          <a:lstStyle/>
          <a:p>
            <a:r>
              <a:rPr lang="en-US" sz="1800" b="1" dirty="0"/>
              <a:t>Python code:</a:t>
            </a:r>
          </a:p>
          <a:p>
            <a:endParaRPr lang="en-US" sz="1800" dirty="0"/>
          </a:p>
          <a:p>
            <a:r>
              <a:rPr lang="en-US" sz="1800" dirty="0"/>
              <a:t>#oil paint effect</a:t>
            </a:r>
          </a:p>
          <a:p>
            <a:r>
              <a:rPr lang="en-US" sz="1800" dirty="0" err="1"/>
              <a:t>def</a:t>
            </a:r>
            <a:r>
              <a:rPr lang="en-US" sz="1800" dirty="0"/>
              <a:t> </a:t>
            </a:r>
            <a:r>
              <a:rPr lang="en-US" sz="1800" dirty="0" err="1"/>
              <a:t>mymode</a:t>
            </a:r>
            <a:r>
              <a:rPr lang="en-US" sz="1800" dirty="0"/>
              <a:t>(x):</a:t>
            </a:r>
          </a:p>
          <a:p>
            <a:r>
              <a:rPr lang="en-US" sz="1800" dirty="0"/>
              <a:t>  </a:t>
            </a:r>
            <a:r>
              <a:rPr lang="en-US" sz="1800" dirty="0" smtClean="0"/>
              <a:t>   return </a:t>
            </a:r>
            <a:r>
              <a:rPr lang="en-US" sz="1800" dirty="0" err="1"/>
              <a:t>stats.mode</a:t>
            </a:r>
            <a:r>
              <a:rPr lang="en-US" sz="1800" dirty="0"/>
              <a:t>(x, axis=None, </a:t>
            </a:r>
            <a:endParaRPr lang="en-US" sz="1800" dirty="0" smtClean="0"/>
          </a:p>
          <a:p>
            <a:r>
              <a:rPr lang="en-US" sz="1800" dirty="0"/>
              <a:t> </a:t>
            </a:r>
            <a:r>
              <a:rPr lang="en-US" sz="1800" dirty="0" smtClean="0"/>
              <a:t>             </a:t>
            </a:r>
            <a:r>
              <a:rPr lang="en-US" sz="1800" dirty="0" err="1" smtClean="0"/>
              <a:t>keepdims</a:t>
            </a:r>
            <a:r>
              <a:rPr lang="en-US" sz="1800" dirty="0" smtClean="0"/>
              <a:t>=True</a:t>
            </a:r>
            <a:r>
              <a:rPr lang="en-US" sz="1800" dirty="0"/>
              <a:t>)[0][0]</a:t>
            </a:r>
          </a:p>
          <a:p>
            <a:endParaRPr lang="en-US" sz="1800" dirty="0"/>
          </a:p>
          <a:p>
            <a:r>
              <a:rPr lang="en-US" sz="1800" dirty="0"/>
              <a:t>f2 = </a:t>
            </a:r>
            <a:r>
              <a:rPr lang="en-US" sz="1800" dirty="0" err="1"/>
              <a:t>ndi.generic_filter</a:t>
            </a:r>
            <a:r>
              <a:rPr lang="en-US" sz="1800" dirty="0"/>
              <a:t>(</a:t>
            </a:r>
            <a:r>
              <a:rPr lang="en-US" sz="1800" dirty="0" err="1"/>
              <a:t>fg</a:t>
            </a:r>
            <a:r>
              <a:rPr lang="en-US" sz="1800" dirty="0"/>
              <a:t>, </a:t>
            </a:r>
            <a:r>
              <a:rPr lang="en-US" sz="1800" dirty="0" err="1"/>
              <a:t>mymode</a:t>
            </a:r>
            <a:r>
              <a:rPr lang="en-US" sz="1800" dirty="0"/>
              <a:t>, size=(9, 9))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5749653" y="5583056"/>
            <a:ext cx="5196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Fig: </a:t>
            </a:r>
            <a:r>
              <a:rPr lang="en-US" dirty="0"/>
              <a:t>  The oil painting effect with different filter </a:t>
            </a:r>
            <a:r>
              <a:rPr lang="en-US" dirty="0" smtClean="0"/>
              <a:t>size 9x9</a:t>
            </a:r>
            <a:r>
              <a:rPr lang="en-US" dirty="0"/>
              <a:t> </a:t>
            </a:r>
          </a:p>
        </p:txBody>
      </p:sp>
      <p:pic>
        <p:nvPicPr>
          <p:cNvPr id="9" name="Picture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568397" y="985130"/>
            <a:ext cx="5558627" cy="438912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751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39" y="504599"/>
            <a:ext cx="3547533" cy="1077059"/>
          </a:xfrm>
        </p:spPr>
        <p:txBody>
          <a:bodyPr/>
          <a:lstStyle/>
          <a:p>
            <a:pPr algn="ctr"/>
            <a:r>
              <a:rPr lang="en-US" sz="2400" dirty="0"/>
              <a:t>Pixel Effects</a:t>
            </a:r>
            <a:br>
              <a:rPr lang="en-US" sz="2400" dirty="0"/>
            </a:br>
            <a:r>
              <a:rPr lang="en-US" sz="2400" dirty="0"/>
              <a:t>The </a:t>
            </a:r>
            <a:r>
              <a:rPr lang="en-US" sz="2400" dirty="0" err="1"/>
              <a:t>solarization</a:t>
            </a:r>
            <a:r>
              <a:rPr lang="en-US" sz="2400" dirty="0"/>
              <a:t> effect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8408" y="2638009"/>
            <a:ext cx="4006849" cy="3600311"/>
          </a:xfrm>
        </p:spPr>
        <p:txBody>
          <a:bodyPr>
            <a:noAutofit/>
          </a:bodyPr>
          <a:lstStyle/>
          <a:p>
            <a:r>
              <a:rPr lang="en-US" sz="1800" b="1" dirty="0"/>
              <a:t>Python code:</a:t>
            </a:r>
          </a:p>
          <a:p>
            <a:endParaRPr lang="en-US" sz="1800" dirty="0"/>
          </a:p>
          <a:p>
            <a:r>
              <a:rPr lang="en-US" sz="1800" dirty="0"/>
              <a:t>#The </a:t>
            </a:r>
            <a:r>
              <a:rPr lang="en-US" sz="1800" dirty="0" err="1"/>
              <a:t>solarization</a:t>
            </a:r>
            <a:r>
              <a:rPr lang="en-US" sz="1800" dirty="0"/>
              <a:t> </a:t>
            </a:r>
            <a:r>
              <a:rPr lang="en-US" sz="1800" dirty="0" smtClean="0"/>
              <a:t>effect</a:t>
            </a:r>
            <a:endParaRPr lang="en-US" sz="1800" dirty="0"/>
          </a:p>
          <a:p>
            <a:r>
              <a:rPr lang="en-US" sz="1800" dirty="0"/>
              <a:t>u=</a:t>
            </a:r>
            <a:r>
              <a:rPr lang="en-US" sz="1800" dirty="0" err="1"/>
              <a:t>fg</a:t>
            </a:r>
            <a:r>
              <a:rPr lang="en-US" sz="1800" dirty="0"/>
              <a:t>&gt;0.5</a:t>
            </a:r>
          </a:p>
          <a:p>
            <a:r>
              <a:rPr lang="en-US" sz="1800" dirty="0"/>
              <a:t>sol=u*</a:t>
            </a:r>
            <a:r>
              <a:rPr lang="en-US" sz="1800" dirty="0" err="1"/>
              <a:t>fg</a:t>
            </a:r>
            <a:r>
              <a:rPr lang="en-US" sz="1800" dirty="0"/>
              <a:t>+(1-u)*(1-fg)</a:t>
            </a:r>
          </a:p>
          <a:p>
            <a:r>
              <a:rPr lang="en-US" sz="1800" dirty="0" err="1"/>
              <a:t>plt.imshow</a:t>
            </a:r>
            <a:r>
              <a:rPr lang="en-US" sz="1800" dirty="0"/>
              <a:t>(</a:t>
            </a:r>
            <a:r>
              <a:rPr lang="en-US" sz="1800" dirty="0" err="1"/>
              <a:t>sol,vmin</a:t>
            </a:r>
            <a:r>
              <a:rPr lang="en-US" sz="1800" dirty="0"/>
              <a:t>=0,vmax=1, </a:t>
            </a:r>
            <a:r>
              <a:rPr lang="en-US" sz="1800" dirty="0" err="1"/>
              <a:t>cmap</a:t>
            </a:r>
            <a:r>
              <a:rPr lang="en-US" sz="1800" dirty="0"/>
              <a:t>='gray')</a:t>
            </a:r>
          </a:p>
          <a:p>
            <a:r>
              <a:rPr lang="en-US" sz="1800" dirty="0" err="1"/>
              <a:t>plt.title</a:t>
            </a:r>
            <a:r>
              <a:rPr lang="en-US" sz="1800" dirty="0"/>
              <a:t>('The </a:t>
            </a:r>
            <a:r>
              <a:rPr lang="en-US" sz="1800" dirty="0" err="1"/>
              <a:t>solarization</a:t>
            </a:r>
            <a:r>
              <a:rPr lang="en-US" sz="1800" dirty="0"/>
              <a:t> Effect')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6257652" y="5659982"/>
            <a:ext cx="4990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Fig: </a:t>
            </a:r>
            <a:r>
              <a:rPr lang="en-US" dirty="0"/>
              <a:t>  The </a:t>
            </a:r>
            <a:r>
              <a:rPr lang="en-US" dirty="0" err="1"/>
              <a:t>solarization</a:t>
            </a:r>
            <a:r>
              <a:rPr lang="en-US" dirty="0"/>
              <a:t> effect</a:t>
            </a:r>
          </a:p>
        </p:txBody>
      </p:sp>
      <p:pic>
        <p:nvPicPr>
          <p:cNvPr id="9" name="Picture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973345" y="1094691"/>
            <a:ext cx="5558627" cy="438912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33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978" y="446088"/>
            <a:ext cx="3547533" cy="1280713"/>
          </a:xfrm>
        </p:spPr>
        <p:txBody>
          <a:bodyPr/>
          <a:lstStyle/>
          <a:p>
            <a:pPr algn="ctr"/>
            <a:r>
              <a:rPr lang="en-US" sz="2800" dirty="0"/>
              <a:t>Pixel Effects</a:t>
            </a:r>
            <a:br>
              <a:rPr lang="en-US" sz="2800" dirty="0"/>
            </a:br>
            <a:r>
              <a:rPr lang="en-US" sz="2800" dirty="0"/>
              <a:t>The color effect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236" y="2046515"/>
            <a:ext cx="4355193" cy="4707366"/>
          </a:xfrm>
        </p:spPr>
        <p:txBody>
          <a:bodyPr>
            <a:noAutofit/>
          </a:bodyPr>
          <a:lstStyle/>
          <a:p>
            <a:pPr algn="just"/>
            <a:r>
              <a:rPr lang="en-US" sz="1600" b="1" dirty="0"/>
              <a:t>Python code</a:t>
            </a:r>
            <a:r>
              <a:rPr lang="en-US" sz="1600" b="1" dirty="0" smtClean="0"/>
              <a:t>:</a:t>
            </a:r>
            <a:endParaRPr lang="en-US" sz="1600" dirty="0"/>
          </a:p>
          <a:p>
            <a:pPr algn="just"/>
            <a:r>
              <a:rPr lang="en-US" sz="1600" dirty="0"/>
              <a:t>#The color effect</a:t>
            </a:r>
          </a:p>
          <a:p>
            <a:pPr algn="just"/>
            <a:r>
              <a:rPr lang="en-US" sz="1600" dirty="0"/>
              <a:t>r, theta = </a:t>
            </a:r>
            <a:r>
              <a:rPr lang="en-US" sz="1600" dirty="0" err="1"/>
              <a:t>polarmesh</a:t>
            </a:r>
            <a:r>
              <a:rPr lang="en-US" sz="1600" dirty="0"/>
              <a:t>(</a:t>
            </a:r>
            <a:r>
              <a:rPr lang="en-US" sz="1600" dirty="0" err="1"/>
              <a:t>fg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/>
              <a:t>k = 250</a:t>
            </a:r>
          </a:p>
          <a:p>
            <a:pPr algn="just"/>
            <a:r>
              <a:rPr lang="en-US" sz="1600" dirty="0"/>
              <a:t>phi = theta + r / k</a:t>
            </a:r>
          </a:p>
          <a:p>
            <a:pPr algn="just"/>
            <a:r>
              <a:rPr lang="en-US" sz="1600" dirty="0"/>
              <a:t>r2 = r + (r % 30</a:t>
            </a:r>
            <a:r>
              <a:rPr lang="en-US" sz="1600" dirty="0" smtClean="0"/>
              <a:t>)</a:t>
            </a:r>
            <a:endParaRPr lang="en-US" sz="1600" dirty="0"/>
          </a:p>
          <a:p>
            <a:pPr algn="just"/>
            <a:r>
              <a:rPr lang="en-US" sz="1600" dirty="0"/>
              <a:t>twirl = </a:t>
            </a:r>
            <a:r>
              <a:rPr lang="en-US" sz="1600" dirty="0" err="1"/>
              <a:t>np.zeros_like</a:t>
            </a:r>
            <a:r>
              <a:rPr lang="en-US" sz="1600" dirty="0"/>
              <a:t>(f)</a:t>
            </a:r>
          </a:p>
          <a:p>
            <a:pPr algn="just"/>
            <a:r>
              <a:rPr lang="en-US" sz="1600" dirty="0"/>
              <a:t>ripple = </a:t>
            </a:r>
            <a:r>
              <a:rPr lang="en-US" sz="1600" dirty="0" err="1"/>
              <a:t>np.zeros_like</a:t>
            </a:r>
            <a:r>
              <a:rPr lang="en-US" sz="1600" dirty="0"/>
              <a:t>(f</a:t>
            </a:r>
            <a:r>
              <a:rPr lang="en-US" sz="1600" dirty="0" smtClean="0"/>
              <a:t>)</a:t>
            </a:r>
            <a:endParaRPr lang="en-US" sz="1600" dirty="0"/>
          </a:p>
          <a:p>
            <a:pPr algn="just"/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in range(3):</a:t>
            </a:r>
          </a:p>
          <a:p>
            <a:pPr algn="just"/>
            <a:r>
              <a:rPr lang="en-US" sz="1600" dirty="0"/>
              <a:t>    twirl[:, :, </a:t>
            </a:r>
            <a:r>
              <a:rPr lang="en-US" sz="1600" dirty="0" err="1"/>
              <a:t>i</a:t>
            </a:r>
            <a:r>
              <a:rPr lang="en-US" sz="1600" dirty="0"/>
              <a:t>] = polar2im(f[:, :, </a:t>
            </a:r>
            <a:r>
              <a:rPr lang="en-US" sz="1600" dirty="0" err="1"/>
              <a:t>i</a:t>
            </a:r>
            <a:r>
              <a:rPr lang="en-US" sz="1600" dirty="0"/>
              <a:t>], r, phi)</a:t>
            </a:r>
          </a:p>
          <a:p>
            <a:pPr algn="just"/>
            <a:r>
              <a:rPr lang="en-US" sz="1600" dirty="0"/>
              <a:t>    ripple[:, :, </a:t>
            </a:r>
            <a:r>
              <a:rPr lang="en-US" sz="1600" dirty="0" err="1"/>
              <a:t>i</a:t>
            </a:r>
            <a:r>
              <a:rPr lang="en-US" sz="1600" dirty="0"/>
              <a:t>] = polar2im(f[:, :, </a:t>
            </a:r>
            <a:r>
              <a:rPr lang="en-US" sz="1600" dirty="0" err="1"/>
              <a:t>i</a:t>
            </a:r>
            <a:r>
              <a:rPr lang="en-US" sz="1600" dirty="0"/>
              <a:t>], r2, theta)</a:t>
            </a:r>
          </a:p>
          <a:p>
            <a:pPr algn="just"/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254579" y="5636759"/>
            <a:ext cx="48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Fig: </a:t>
            </a:r>
            <a:r>
              <a:rPr lang="en-US" dirty="0"/>
              <a:t>  The COLOR INSERT Effects on a color image</a:t>
            </a:r>
          </a:p>
        </p:txBody>
      </p:sp>
      <p:pic>
        <p:nvPicPr>
          <p:cNvPr id="9" name="Picture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771253" y="1086444"/>
            <a:ext cx="5558627" cy="438912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349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/>
          <p:cNvSpPr/>
          <p:nvPr/>
        </p:nvSpPr>
        <p:spPr>
          <a:xfrm>
            <a:off x="2579188" y="2336800"/>
            <a:ext cx="6720115" cy="1770743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79187" y="2669065"/>
            <a:ext cx="6720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/>
              <a:t>Video Processing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49626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2481943"/>
            <a:ext cx="4616205" cy="1308660"/>
          </a:xfrm>
        </p:spPr>
        <p:txBody>
          <a:bodyPr/>
          <a:lstStyle/>
          <a:p>
            <a:r>
              <a:rPr lang="en-US" sz="4000" dirty="0"/>
              <a:t>Video 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626263" y="2155371"/>
            <a:ext cx="4880300" cy="296526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Video processing is a fundamental branch of digital image processing that deals with the </a:t>
            </a:r>
            <a:r>
              <a:rPr lang="en-US" dirty="0" smtClean="0"/>
              <a:t>manipulation</a:t>
            </a:r>
            <a:r>
              <a:rPr lang="en-US" dirty="0"/>
              <a:t>, </a:t>
            </a:r>
            <a:r>
              <a:rPr lang="en-US" dirty="0" smtClean="0"/>
              <a:t>analysis</a:t>
            </a:r>
            <a:r>
              <a:rPr lang="en-US" dirty="0"/>
              <a:t>, </a:t>
            </a:r>
            <a:r>
              <a:rPr lang="en-US" dirty="0" smtClean="0"/>
              <a:t>and enhancement of </a:t>
            </a:r>
            <a:r>
              <a:rPr lang="en-US" dirty="0"/>
              <a:t>video sequences.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involves a series of techniques aimed at extracting meaningful information from video data, making it a crucial field in today's digital world.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52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2481943"/>
            <a:ext cx="4616205" cy="1308660"/>
          </a:xfrm>
        </p:spPr>
        <p:txBody>
          <a:bodyPr/>
          <a:lstStyle/>
          <a:p>
            <a:r>
              <a:rPr lang="en-US" sz="4000" dirty="0"/>
              <a:t>Video 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665451" y="2103119"/>
            <a:ext cx="4880300" cy="296526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Here we will cover –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Output of live webcam feed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Grayscale video of RGB color video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Separating color channels in a </a:t>
            </a:r>
            <a:r>
              <a:rPr lang="en-US" dirty="0" err="1"/>
              <a:t>a</a:t>
            </a:r>
            <a:r>
              <a:rPr lang="en-US" dirty="0"/>
              <a:t> live webcam stream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More operations on live webcam streams</a:t>
            </a:r>
          </a:p>
        </p:txBody>
      </p:sp>
    </p:spTree>
    <p:extLst>
      <p:ext uri="{BB962C8B-B14F-4D97-AF65-F5344CB8AC3E}">
        <p14:creationId xmlns:p14="http://schemas.microsoft.com/office/powerpoint/2010/main" val="72741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183" y="302396"/>
            <a:ext cx="3849975" cy="1618396"/>
          </a:xfrm>
        </p:spPr>
        <p:txBody>
          <a:bodyPr/>
          <a:lstStyle/>
          <a:p>
            <a:pPr marL="342900" indent="-342900" algn="ctr"/>
            <a:r>
              <a:rPr lang="en-US" sz="2400" dirty="0"/>
              <a:t>Output of live webcam feed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42431" y="1541416"/>
            <a:ext cx="4648380" cy="4428309"/>
          </a:xfrm>
        </p:spPr>
        <p:txBody>
          <a:bodyPr>
            <a:noAutofit/>
          </a:bodyPr>
          <a:lstStyle/>
          <a:p>
            <a:r>
              <a:rPr lang="en-US" sz="1600" b="1" dirty="0"/>
              <a:t>Python code:</a:t>
            </a:r>
          </a:p>
          <a:p>
            <a:r>
              <a:rPr lang="en-US" sz="1600" dirty="0"/>
              <a:t>cap = </a:t>
            </a:r>
            <a:r>
              <a:rPr lang="en-US" sz="1600" dirty="0" err="1"/>
              <a:t>cv.VideoCapture</a:t>
            </a:r>
            <a:r>
              <a:rPr lang="en-US" sz="1600" dirty="0"/>
              <a:t>(0)</a:t>
            </a:r>
          </a:p>
          <a:p>
            <a:r>
              <a:rPr lang="en-US" sz="1600" dirty="0" err="1"/>
              <a:t>cap.set</a:t>
            </a:r>
            <a:r>
              <a:rPr lang="en-US" sz="1600" dirty="0"/>
              <a:t>(</a:t>
            </a:r>
            <a:r>
              <a:rPr lang="en-US" sz="1600" dirty="0" err="1"/>
              <a:t>cv.CAP_PROP_FRAME_WIDTH</a:t>
            </a:r>
            <a:r>
              <a:rPr lang="en-US" sz="1600" dirty="0"/>
              <a:t>, 256)</a:t>
            </a:r>
          </a:p>
          <a:p>
            <a:r>
              <a:rPr lang="en-US" sz="1600" dirty="0" err="1"/>
              <a:t>cap.set</a:t>
            </a:r>
            <a:r>
              <a:rPr lang="en-US" sz="1600" dirty="0"/>
              <a:t>(</a:t>
            </a:r>
            <a:r>
              <a:rPr lang="en-US" sz="1600" dirty="0" err="1"/>
              <a:t>cv.CAP_PROP_FRAME_HEIGHT</a:t>
            </a:r>
            <a:r>
              <a:rPr lang="en-US" sz="1600" dirty="0"/>
              <a:t>, 144)</a:t>
            </a:r>
          </a:p>
          <a:p>
            <a:r>
              <a:rPr lang="en-US" sz="1600" dirty="0" smtClean="0"/>
              <a:t>successfully</a:t>
            </a:r>
            <a:endParaRPr lang="en-US" sz="1600" dirty="0"/>
          </a:p>
          <a:p>
            <a:r>
              <a:rPr lang="en-US" sz="1600" dirty="0"/>
              <a:t>if not </a:t>
            </a:r>
            <a:r>
              <a:rPr lang="en-US" sz="1600" dirty="0" err="1"/>
              <a:t>cap.isOpened</a:t>
            </a:r>
            <a:r>
              <a:rPr lang="en-US" sz="1600" dirty="0"/>
              <a:t>():</a:t>
            </a:r>
          </a:p>
          <a:p>
            <a:r>
              <a:rPr lang="en-US" sz="1600" dirty="0"/>
              <a:t>    print("Cannot open camera...")</a:t>
            </a:r>
          </a:p>
          <a:p>
            <a:r>
              <a:rPr lang="en-US" sz="1600" dirty="0"/>
              <a:t>    exit()</a:t>
            </a:r>
            <a:endParaRPr lang="en-US" sz="1600" dirty="0"/>
          </a:p>
          <a:p>
            <a:r>
              <a:rPr lang="en-US" sz="1600" dirty="0"/>
              <a:t>while True:</a:t>
            </a:r>
          </a:p>
          <a:p>
            <a:r>
              <a:rPr lang="en-US" sz="1600" dirty="0"/>
              <a:t>    ret, frame = </a:t>
            </a:r>
            <a:r>
              <a:rPr lang="en-US" sz="1600" dirty="0" err="1"/>
              <a:t>cap.read</a:t>
            </a:r>
            <a:r>
              <a:rPr lang="en-US" sz="1600" dirty="0"/>
              <a:t>()</a:t>
            </a:r>
          </a:p>
          <a:p>
            <a:r>
              <a:rPr lang="en-US" sz="1600" dirty="0"/>
              <a:t>    if not ret:</a:t>
            </a:r>
          </a:p>
          <a:p>
            <a:r>
              <a:rPr lang="en-US" sz="1600" dirty="0"/>
              <a:t>        print("Can't </a:t>
            </a:r>
            <a:r>
              <a:rPr lang="en-US" sz="1600" dirty="0" smtClean="0"/>
              <a:t>receive... </a:t>
            </a:r>
            <a:r>
              <a:rPr lang="en-US" sz="1600" dirty="0"/>
              <a:t>\</a:t>
            </a:r>
            <a:r>
              <a:rPr lang="en-US" sz="1600" dirty="0" err="1"/>
              <a:t>nExiting</a:t>
            </a:r>
            <a:r>
              <a:rPr lang="en-US" sz="1600" dirty="0"/>
              <a:t> ...")</a:t>
            </a:r>
          </a:p>
          <a:p>
            <a:r>
              <a:rPr lang="en-US" sz="1600" dirty="0"/>
              <a:t>        break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cv.imshow</a:t>
            </a:r>
            <a:r>
              <a:rPr lang="en-US" sz="1600" dirty="0"/>
              <a:t>('frame', frame)</a:t>
            </a:r>
          </a:p>
          <a:p>
            <a:r>
              <a:rPr lang="en-US" sz="1600" dirty="0"/>
              <a:t>    if </a:t>
            </a:r>
            <a:r>
              <a:rPr lang="en-US" sz="1600" dirty="0" err="1"/>
              <a:t>cv.waitKey</a:t>
            </a:r>
            <a:r>
              <a:rPr lang="en-US" sz="1600" dirty="0"/>
              <a:t>(1) == 27:</a:t>
            </a:r>
          </a:p>
          <a:p>
            <a:r>
              <a:rPr lang="en-US" sz="1600" dirty="0"/>
              <a:t>        break</a:t>
            </a:r>
          </a:p>
          <a:p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10" y="2717075"/>
            <a:ext cx="4458320" cy="29305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8183" y="6074573"/>
            <a:ext cx="457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of live webcam feed</a:t>
            </a:r>
          </a:p>
        </p:txBody>
      </p:sp>
    </p:spTree>
    <p:extLst>
      <p:ext uri="{BB962C8B-B14F-4D97-AF65-F5344CB8AC3E}">
        <p14:creationId xmlns:p14="http://schemas.microsoft.com/office/powerpoint/2010/main" val="216248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895" y="276271"/>
            <a:ext cx="4072044" cy="1618396"/>
          </a:xfrm>
        </p:spPr>
        <p:txBody>
          <a:bodyPr/>
          <a:lstStyle/>
          <a:p>
            <a:pPr algn="ctr"/>
            <a:r>
              <a:rPr lang="en-US" sz="2400" dirty="0"/>
              <a:t>Grayscale video of RGB color video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0895" y="2628380"/>
            <a:ext cx="4072044" cy="2714696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41849" y="1542670"/>
            <a:ext cx="4043332" cy="3600311"/>
          </a:xfrm>
        </p:spPr>
        <p:txBody>
          <a:bodyPr>
            <a:noAutofit/>
          </a:bodyPr>
          <a:lstStyle/>
          <a:p>
            <a:r>
              <a:rPr lang="en-US" sz="1800" b="1" dirty="0"/>
              <a:t>Python code</a:t>
            </a:r>
            <a:r>
              <a:rPr lang="en-US" sz="1800" b="1" dirty="0" smtClean="0"/>
              <a:t>:</a:t>
            </a:r>
            <a:endParaRPr lang="en-US" sz="1800" b="1" dirty="0"/>
          </a:p>
          <a:p>
            <a:r>
              <a:rPr lang="en-US" sz="1800" dirty="0"/>
              <a:t>if not </a:t>
            </a:r>
            <a:r>
              <a:rPr lang="en-US" sz="1800" dirty="0" err="1"/>
              <a:t>cap.isOpened</a:t>
            </a:r>
            <a:r>
              <a:rPr lang="en-US" sz="1800" dirty="0"/>
              <a:t>():</a:t>
            </a:r>
          </a:p>
          <a:p>
            <a:r>
              <a:rPr lang="en-US" sz="1800" dirty="0"/>
              <a:t>    print("Cannot open camera...")</a:t>
            </a:r>
          </a:p>
          <a:p>
            <a:r>
              <a:rPr lang="en-US" sz="1800" dirty="0"/>
              <a:t>    exit()</a:t>
            </a:r>
          </a:p>
          <a:p>
            <a:r>
              <a:rPr lang="en-US" sz="1800" dirty="0" smtClean="0"/>
              <a:t>while </a:t>
            </a:r>
            <a:r>
              <a:rPr lang="en-US" sz="1800" dirty="0"/>
              <a:t>True:</a:t>
            </a:r>
          </a:p>
          <a:p>
            <a:r>
              <a:rPr lang="en-US" sz="1800" dirty="0"/>
              <a:t>    ret, frame = </a:t>
            </a:r>
            <a:r>
              <a:rPr lang="en-US" sz="1800" dirty="0" err="1"/>
              <a:t>cap.read</a:t>
            </a:r>
            <a:r>
              <a:rPr lang="en-US" sz="1800" dirty="0"/>
              <a:t>()</a:t>
            </a:r>
          </a:p>
          <a:p>
            <a:r>
              <a:rPr lang="en-US" sz="1800" dirty="0"/>
              <a:t>    if not ret:</a:t>
            </a:r>
          </a:p>
          <a:p>
            <a:r>
              <a:rPr lang="en-US" sz="1800" dirty="0"/>
              <a:t>        break</a:t>
            </a:r>
          </a:p>
          <a:p>
            <a:r>
              <a:rPr lang="en-US" sz="1800" dirty="0"/>
              <a:t>    gray = </a:t>
            </a:r>
            <a:r>
              <a:rPr lang="en-US" sz="1800" dirty="0" err="1"/>
              <a:t>cv.cvtColor</a:t>
            </a:r>
            <a:r>
              <a:rPr lang="en-US" sz="1800" dirty="0"/>
              <a:t>(frame, cv.COLOR_BGR2GRAY)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cv.imshow</a:t>
            </a:r>
            <a:r>
              <a:rPr lang="en-US" sz="1800" dirty="0"/>
              <a:t>('frame', gray)</a:t>
            </a:r>
          </a:p>
          <a:p>
            <a:r>
              <a:rPr lang="en-US" sz="1800" dirty="0"/>
              <a:t>    if </a:t>
            </a:r>
            <a:r>
              <a:rPr lang="en-US" sz="1800" dirty="0" err="1"/>
              <a:t>cv.waitKey</a:t>
            </a:r>
            <a:r>
              <a:rPr lang="en-US" sz="1800" dirty="0"/>
              <a:t>(1) == 27:</a:t>
            </a:r>
          </a:p>
          <a:p>
            <a:r>
              <a:rPr lang="en-US" sz="1800" dirty="0"/>
              <a:t>        </a:t>
            </a:r>
            <a:r>
              <a:rPr lang="en-US" sz="1800" dirty="0" smtClean="0"/>
              <a:t>break</a:t>
            </a:r>
          </a:p>
          <a:p>
            <a:r>
              <a:rPr lang="en-US" sz="1800" dirty="0" err="1"/>
              <a:t>cap.release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cv.destroyAllWindows</a:t>
            </a:r>
            <a:r>
              <a:rPr lang="en-US" sz="1800" dirty="0"/>
              <a:t>()</a:t>
            </a: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182880" y="5707457"/>
            <a:ext cx="680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Separating color channels in a live webcam stream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88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176210"/>
          </a:xfrm>
        </p:spPr>
        <p:txBody>
          <a:bodyPr/>
          <a:lstStyle/>
          <a:p>
            <a:pPr algn="ctr"/>
            <a:r>
              <a:rPr lang="en-US" dirty="0"/>
              <a:t>Separating color channels in a live webcam stream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0561" y="786656"/>
            <a:ext cx="6253162" cy="455131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0760" y="2731000"/>
            <a:ext cx="3929924" cy="3600311"/>
          </a:xfrm>
        </p:spPr>
        <p:txBody>
          <a:bodyPr>
            <a:noAutofit/>
          </a:bodyPr>
          <a:lstStyle/>
          <a:p>
            <a:pPr algn="just"/>
            <a:r>
              <a:rPr lang="en-US" sz="1800" b="1" dirty="0"/>
              <a:t>Python Code: </a:t>
            </a:r>
            <a:endParaRPr lang="en-US" sz="1800" dirty="0" smtClean="0"/>
          </a:p>
          <a:p>
            <a:pPr algn="just"/>
            <a:r>
              <a:rPr lang="en-US" sz="1800" dirty="0" smtClean="0"/>
              <a:t>b </a:t>
            </a:r>
            <a:r>
              <a:rPr lang="en-US" sz="1800" dirty="0"/>
              <a:t>= frame[:, :, 0]</a:t>
            </a:r>
          </a:p>
          <a:p>
            <a:pPr algn="just"/>
            <a:r>
              <a:rPr lang="en-US" sz="1800" dirty="0"/>
              <a:t>    g = frame[:, :, 1]</a:t>
            </a:r>
          </a:p>
          <a:p>
            <a:pPr algn="just"/>
            <a:r>
              <a:rPr lang="en-US" sz="1800" dirty="0"/>
              <a:t>    r = frame[:, :, 2]</a:t>
            </a:r>
          </a:p>
          <a:p>
            <a:pPr algn="just"/>
            <a:r>
              <a:rPr lang="en-US" sz="1800" dirty="0"/>
              <a:t>    </a:t>
            </a:r>
            <a:r>
              <a:rPr lang="en-US" sz="1800" dirty="0" err="1"/>
              <a:t>cv.imshow</a:t>
            </a:r>
            <a:r>
              <a:rPr lang="en-US" sz="1800" dirty="0"/>
              <a:t>('Red', r)</a:t>
            </a:r>
          </a:p>
          <a:p>
            <a:pPr algn="just"/>
            <a:r>
              <a:rPr lang="en-US" sz="1800" dirty="0"/>
              <a:t>    </a:t>
            </a:r>
            <a:r>
              <a:rPr lang="en-US" sz="1800" dirty="0" err="1"/>
              <a:t>cv.imshow</a:t>
            </a:r>
            <a:r>
              <a:rPr lang="en-US" sz="1800" dirty="0"/>
              <a:t>('Green', g)</a:t>
            </a:r>
          </a:p>
          <a:p>
            <a:pPr algn="just"/>
            <a:r>
              <a:rPr lang="en-US" sz="1800" dirty="0"/>
              <a:t>    </a:t>
            </a:r>
            <a:r>
              <a:rPr lang="en-US" sz="1800" dirty="0" err="1"/>
              <a:t>cv.imshow</a:t>
            </a:r>
            <a:r>
              <a:rPr lang="en-US" sz="1800" dirty="0"/>
              <a:t>('Blue', b)</a:t>
            </a:r>
          </a:p>
          <a:p>
            <a:pPr algn="just"/>
            <a:r>
              <a:rPr lang="en-US" sz="1800" dirty="0"/>
              <a:t>    if </a:t>
            </a:r>
            <a:r>
              <a:rPr lang="en-US" sz="1800" dirty="0" err="1"/>
              <a:t>cv.waitKey</a:t>
            </a:r>
            <a:r>
              <a:rPr lang="en-US" sz="1800" dirty="0"/>
              <a:t>(1) == 27:</a:t>
            </a:r>
          </a:p>
          <a:p>
            <a:pPr algn="just"/>
            <a:r>
              <a:rPr lang="en-US" sz="1800" dirty="0"/>
              <a:t>        </a:t>
            </a:r>
            <a:r>
              <a:rPr lang="en-US" sz="1800" dirty="0" smtClean="0"/>
              <a:t>break</a:t>
            </a:r>
          </a:p>
          <a:p>
            <a:pPr algn="just"/>
            <a:r>
              <a:rPr lang="en-US" sz="1800" dirty="0" err="1"/>
              <a:t>cap.release</a:t>
            </a:r>
            <a:r>
              <a:rPr lang="en-US" sz="1800" dirty="0"/>
              <a:t>()</a:t>
            </a:r>
          </a:p>
          <a:p>
            <a:pPr algn="just"/>
            <a:r>
              <a:rPr lang="en-US" sz="1800" dirty="0" err="1"/>
              <a:t>cv.destroyAllWindows</a:t>
            </a:r>
            <a:r>
              <a:rPr lang="en-US" sz="1800" dirty="0"/>
              <a:t>()</a:t>
            </a: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5390561" y="5645792"/>
            <a:ext cx="680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Separating color channels in a live webcam stream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4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0" y="600890"/>
            <a:ext cx="3547533" cy="1189273"/>
          </a:xfrm>
        </p:spPr>
        <p:txBody>
          <a:bodyPr/>
          <a:lstStyle/>
          <a:p>
            <a:pPr algn="ctr"/>
            <a:r>
              <a:rPr lang="en-US" dirty="0"/>
              <a:t>Some More operations on live webcam streams:</a:t>
            </a:r>
            <a:br>
              <a:rPr lang="en-US" dirty="0"/>
            </a:br>
            <a:r>
              <a:rPr lang="en-US" dirty="0"/>
              <a:t>Geometric Transformation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2323" y="2468171"/>
            <a:ext cx="4312944" cy="2796159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63159" y="1230052"/>
            <a:ext cx="4422562" cy="4389120"/>
          </a:xfrm>
        </p:spPr>
        <p:txBody>
          <a:bodyPr>
            <a:noAutofit/>
          </a:bodyPr>
          <a:lstStyle/>
          <a:p>
            <a:r>
              <a:rPr lang="en-US" sz="1800" dirty="0"/>
              <a:t>Python code:</a:t>
            </a:r>
          </a:p>
          <a:p>
            <a:r>
              <a:rPr lang="en-US" sz="1800" dirty="0"/>
              <a:t>if not </a:t>
            </a:r>
            <a:r>
              <a:rPr lang="en-US" sz="1800" dirty="0" err="1"/>
              <a:t>cap.isOpened</a:t>
            </a:r>
            <a:r>
              <a:rPr lang="en-US" sz="1800" dirty="0"/>
              <a:t>():</a:t>
            </a:r>
          </a:p>
          <a:p>
            <a:r>
              <a:rPr lang="en-US" sz="1800" dirty="0"/>
              <a:t>    print("Cannot open camera...")</a:t>
            </a:r>
          </a:p>
          <a:p>
            <a:r>
              <a:rPr lang="en-US" sz="1800" dirty="0"/>
              <a:t>    exit</a:t>
            </a:r>
            <a:r>
              <a:rPr lang="en-US" sz="1800" dirty="0" smtClean="0"/>
              <a:t>()</a:t>
            </a:r>
            <a:endParaRPr lang="en-US" sz="1800" dirty="0" smtClean="0"/>
          </a:p>
          <a:p>
            <a:r>
              <a:rPr lang="en-US" sz="1800" dirty="0" smtClean="0"/>
              <a:t>while </a:t>
            </a:r>
            <a:r>
              <a:rPr lang="en-US" sz="1800" dirty="0"/>
              <a:t>True:</a:t>
            </a:r>
          </a:p>
          <a:p>
            <a:r>
              <a:rPr lang="en-US" sz="1800" dirty="0"/>
              <a:t>    ret, frame = </a:t>
            </a:r>
            <a:r>
              <a:rPr lang="en-US" sz="1800" dirty="0" err="1"/>
              <a:t>cap.read</a:t>
            </a:r>
            <a:r>
              <a:rPr lang="en-US" sz="1800" dirty="0"/>
              <a:t>()</a:t>
            </a:r>
          </a:p>
          <a:p>
            <a:r>
              <a:rPr lang="en-US" sz="1800" dirty="0"/>
              <a:t>    if not ret:</a:t>
            </a:r>
          </a:p>
          <a:p>
            <a:r>
              <a:rPr lang="en-US" sz="1800" dirty="0"/>
              <a:t>        break</a:t>
            </a:r>
          </a:p>
          <a:p>
            <a:r>
              <a:rPr lang="en-US" sz="1800" dirty="0"/>
              <a:t>    angle = (angle + 1) % 360</a:t>
            </a:r>
          </a:p>
          <a:p>
            <a:r>
              <a:rPr lang="en-US" sz="1800" dirty="0"/>
              <a:t>    output = </a:t>
            </a:r>
            <a:r>
              <a:rPr lang="en-US" sz="1800" dirty="0" err="1"/>
              <a:t>ndi.rotate</a:t>
            </a:r>
            <a:r>
              <a:rPr lang="en-US" sz="1800" dirty="0"/>
              <a:t>(frame, angle, reshape=False)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cv.imshow</a:t>
            </a:r>
            <a:r>
              <a:rPr lang="en-US" sz="1800" dirty="0"/>
              <a:t>('Rotated Frame', output)</a:t>
            </a:r>
          </a:p>
          <a:p>
            <a:r>
              <a:rPr lang="en-US" sz="1800" dirty="0"/>
              <a:t>    if </a:t>
            </a:r>
            <a:r>
              <a:rPr lang="en-US" sz="1800" dirty="0" err="1"/>
              <a:t>cv.waitKey</a:t>
            </a:r>
            <a:r>
              <a:rPr lang="en-US" sz="1800" dirty="0"/>
              <a:t>(1) == 27:</a:t>
            </a:r>
          </a:p>
          <a:p>
            <a:r>
              <a:rPr lang="en-US" sz="1800" dirty="0"/>
              <a:t>        </a:t>
            </a:r>
            <a:r>
              <a:rPr lang="en-US" sz="1800" dirty="0" smtClean="0"/>
              <a:t>break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292515" y="5619172"/>
            <a:ext cx="6252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</a:t>
            </a:r>
            <a:r>
              <a:rPr lang="en-US" dirty="0" smtClean="0"/>
              <a:t>: Geometric </a:t>
            </a:r>
            <a:r>
              <a:rPr lang="en-US" dirty="0"/>
              <a:t>Transformation of a live webcam feed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80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978" y="713104"/>
            <a:ext cx="3547533" cy="1077059"/>
          </a:xfrm>
        </p:spPr>
        <p:txBody>
          <a:bodyPr/>
          <a:lstStyle/>
          <a:p>
            <a:pPr algn="ctr"/>
            <a:r>
              <a:rPr lang="en-US" dirty="0"/>
              <a:t>Some More operations on live webcam streams:</a:t>
            </a:r>
            <a:br>
              <a:rPr lang="en-US" dirty="0"/>
            </a:br>
            <a:r>
              <a:rPr lang="en-US" dirty="0" smtClean="0"/>
              <a:t>Convolution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9367" y="591986"/>
            <a:ext cx="6252633" cy="5414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Python code:</a:t>
            </a:r>
          </a:p>
          <a:p>
            <a:pPr marL="0" indent="0">
              <a:buNone/>
            </a:pPr>
            <a:r>
              <a:rPr lang="en-US" dirty="0"/>
              <a:t>while True:</a:t>
            </a:r>
          </a:p>
          <a:p>
            <a:pPr marL="0" indent="0">
              <a:buNone/>
            </a:pPr>
            <a:r>
              <a:rPr lang="en-US" dirty="0"/>
              <a:t>    ret, frame = </a:t>
            </a:r>
            <a:r>
              <a:rPr lang="en-US" dirty="0" err="1"/>
              <a:t>cap.read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if not ret:</a:t>
            </a:r>
          </a:p>
          <a:p>
            <a:pPr marL="0" indent="0">
              <a:buNone/>
            </a:pPr>
            <a:r>
              <a:rPr lang="en-US" dirty="0"/>
              <a:t>        break</a:t>
            </a:r>
          </a:p>
          <a:p>
            <a:pPr marL="0" indent="0">
              <a:buNone/>
            </a:pPr>
            <a:r>
              <a:rPr lang="en-US" dirty="0"/>
              <a:t>    output = </a:t>
            </a:r>
            <a:r>
              <a:rPr lang="en-US" dirty="0" err="1"/>
              <a:t>ndi.convolve</a:t>
            </a:r>
            <a:r>
              <a:rPr lang="en-US" dirty="0"/>
              <a:t>(frame, k, mode='nearest')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cv.imshow</a:t>
            </a:r>
            <a:r>
              <a:rPr lang="en-US" dirty="0"/>
              <a:t>('Convolved Frame', output)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cv.waitKey</a:t>
            </a:r>
            <a:r>
              <a:rPr lang="en-US" dirty="0"/>
              <a:t>(1) == 27: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smtClean="0"/>
              <a:t>break</a:t>
            </a:r>
          </a:p>
          <a:p>
            <a:pPr marL="0" indent="0">
              <a:buNone/>
            </a:pPr>
            <a:r>
              <a:rPr lang="en-US" dirty="0" err="1"/>
              <a:t>cap.release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cv.destroyAllWindows</a:t>
            </a:r>
            <a:r>
              <a:rPr lang="en-US" dirty="0"/>
              <a:t>()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85415" y="6006949"/>
            <a:ext cx="4010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</a:t>
            </a:r>
            <a:r>
              <a:rPr lang="en-US" dirty="0" err="1" smtClean="0"/>
              <a:t>Blured</a:t>
            </a:r>
            <a:r>
              <a:rPr lang="en-US" dirty="0" smtClean="0"/>
              <a:t> </a:t>
            </a:r>
            <a:r>
              <a:rPr lang="en-US" dirty="0"/>
              <a:t>fig from webcam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55" y="2716121"/>
            <a:ext cx="4308431" cy="292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Some More operations on live webcam streams:</a:t>
            </a:r>
            <a:br>
              <a:rPr lang="en-US" dirty="0"/>
            </a:br>
            <a:r>
              <a:rPr lang="en-US" dirty="0" err="1"/>
              <a:t>Convulation</a:t>
            </a:r>
            <a:r>
              <a:rPr lang="en-US" dirty="0"/>
              <a:t>(Using </a:t>
            </a:r>
            <a:r>
              <a:rPr lang="en-US" dirty="0" err="1"/>
              <a:t>Trackbar</a:t>
            </a:r>
            <a:r>
              <a:rPr lang="en-US" dirty="0"/>
              <a:t>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366" y="2612413"/>
            <a:ext cx="4255520" cy="3380919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74676" y="1255286"/>
            <a:ext cx="5029198" cy="4916643"/>
          </a:xfrm>
        </p:spPr>
        <p:txBody>
          <a:bodyPr>
            <a:noAutofit/>
          </a:bodyPr>
          <a:lstStyle/>
          <a:p>
            <a:r>
              <a:rPr lang="en-US" sz="1600" dirty="0"/>
              <a:t>Python code:</a:t>
            </a:r>
          </a:p>
          <a:p>
            <a:r>
              <a:rPr lang="en-US" sz="1600" dirty="0"/>
              <a:t>while True:</a:t>
            </a:r>
          </a:p>
          <a:p>
            <a:r>
              <a:rPr lang="en-US" sz="1600" dirty="0"/>
              <a:t>    ret, frame = </a:t>
            </a:r>
            <a:r>
              <a:rPr lang="en-US" sz="1600" dirty="0" err="1"/>
              <a:t>cap.read</a:t>
            </a:r>
            <a:r>
              <a:rPr lang="en-US" sz="1600" dirty="0"/>
              <a:t>()</a:t>
            </a:r>
          </a:p>
          <a:p>
            <a:r>
              <a:rPr lang="en-US" sz="1600" dirty="0"/>
              <a:t>    if not ret:</a:t>
            </a:r>
          </a:p>
          <a:p>
            <a:r>
              <a:rPr lang="en-US" sz="1600" dirty="0"/>
              <a:t>        print("Can't receive frame... \</a:t>
            </a:r>
            <a:r>
              <a:rPr lang="en-US" sz="1600" dirty="0" err="1"/>
              <a:t>nExiting</a:t>
            </a:r>
            <a:r>
              <a:rPr lang="en-US" sz="1600" dirty="0"/>
              <a:t> ...")</a:t>
            </a:r>
          </a:p>
          <a:p>
            <a:r>
              <a:rPr lang="en-US" sz="1600" dirty="0"/>
              <a:t>        break</a:t>
            </a:r>
          </a:p>
          <a:p>
            <a:r>
              <a:rPr lang="en-US" sz="1600" dirty="0"/>
              <a:t>    n = </a:t>
            </a:r>
            <a:r>
              <a:rPr lang="en-US" sz="1600" dirty="0" err="1"/>
              <a:t>cv.getTrackbarPos</a:t>
            </a:r>
            <a:r>
              <a:rPr lang="en-US" sz="1600" dirty="0"/>
              <a:t>('Kernel Size', WINDOW_NAME)</a:t>
            </a:r>
          </a:p>
          <a:p>
            <a:r>
              <a:rPr lang="en-US" sz="1600" dirty="0"/>
              <a:t>    k = </a:t>
            </a:r>
            <a:r>
              <a:rPr lang="en-US" sz="1600" dirty="0" err="1"/>
              <a:t>np.ones</a:t>
            </a:r>
            <a:r>
              <a:rPr lang="en-US" sz="1600" dirty="0"/>
              <a:t>((n, n, n), np.uint8) / (n * n * n)</a:t>
            </a:r>
          </a:p>
          <a:p>
            <a:r>
              <a:rPr lang="en-US" sz="1600" dirty="0"/>
              <a:t>    output = </a:t>
            </a:r>
            <a:r>
              <a:rPr lang="en-US" sz="1600" dirty="0" err="1"/>
              <a:t>ndi.convolve</a:t>
            </a:r>
            <a:r>
              <a:rPr lang="en-US" sz="1600" dirty="0"/>
              <a:t>(frame, k, mode='nearest')</a:t>
            </a:r>
          </a:p>
          <a:p>
            <a:r>
              <a:rPr lang="en-US" sz="1600" dirty="0"/>
              <a:t>    if </a:t>
            </a:r>
            <a:r>
              <a:rPr lang="en-US" sz="1600" dirty="0" err="1"/>
              <a:t>cv.waitKey</a:t>
            </a:r>
            <a:r>
              <a:rPr lang="en-US" sz="1600" dirty="0"/>
              <a:t>(1) == 27:   break</a:t>
            </a:r>
          </a:p>
          <a:p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1711235" y="6171929"/>
            <a:ext cx="310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Using </a:t>
            </a:r>
            <a:r>
              <a:rPr lang="en-US" dirty="0" err="1"/>
              <a:t>trackbar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0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0" y="861872"/>
            <a:ext cx="3547533" cy="941078"/>
          </a:xfrm>
        </p:spPr>
        <p:txBody>
          <a:bodyPr/>
          <a:lstStyle/>
          <a:p>
            <a:pPr algn="ctr"/>
            <a:r>
              <a:rPr lang="en-US" dirty="0"/>
              <a:t>Some More operations on live webcam streams:</a:t>
            </a:r>
            <a:br>
              <a:rPr lang="en-US" dirty="0"/>
            </a:br>
            <a:r>
              <a:rPr lang="en-US" dirty="0"/>
              <a:t>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5186" y="633548"/>
            <a:ext cx="6252633" cy="5414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Python Code:</a:t>
            </a:r>
          </a:p>
          <a:p>
            <a:pPr marL="0" indent="0">
              <a:buNone/>
            </a:pPr>
            <a:r>
              <a:rPr lang="en-US" dirty="0"/>
              <a:t>while True:</a:t>
            </a:r>
          </a:p>
          <a:p>
            <a:pPr marL="0" indent="0">
              <a:buNone/>
            </a:pPr>
            <a:r>
              <a:rPr lang="en-US" dirty="0"/>
              <a:t>    ret, frame = </a:t>
            </a:r>
            <a:r>
              <a:rPr lang="en-US" dirty="0" err="1"/>
              <a:t>cap.read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if not ret:</a:t>
            </a:r>
          </a:p>
          <a:p>
            <a:pPr marL="0" indent="0">
              <a:buNone/>
            </a:pPr>
            <a:r>
              <a:rPr lang="en-US" dirty="0"/>
              <a:t>        print("Can't receive frame... \</a:t>
            </a:r>
            <a:r>
              <a:rPr lang="en-US" dirty="0" err="1"/>
              <a:t>nExiting</a:t>
            </a:r>
            <a:r>
              <a:rPr lang="en-US" dirty="0"/>
              <a:t> ...")</a:t>
            </a:r>
          </a:p>
          <a:p>
            <a:pPr marL="0" indent="0">
              <a:buNone/>
            </a:pPr>
            <a:r>
              <a:rPr lang="en-US" dirty="0"/>
              <a:t>        break</a:t>
            </a:r>
          </a:p>
          <a:p>
            <a:pPr marL="0" indent="0">
              <a:buNone/>
            </a:pPr>
            <a:r>
              <a:rPr lang="en-US" dirty="0"/>
              <a:t>    n = </a:t>
            </a:r>
            <a:r>
              <a:rPr lang="en-US" dirty="0" err="1"/>
              <a:t>cv.getTrackbarPos</a:t>
            </a:r>
            <a:r>
              <a:rPr lang="en-US" dirty="0"/>
              <a:t>('Kernel Size', WINDOW_NAME)</a:t>
            </a:r>
          </a:p>
          <a:p>
            <a:pPr marL="0" indent="0">
              <a:buNone/>
            </a:pPr>
            <a:r>
              <a:rPr lang="en-US" dirty="0"/>
              <a:t>    k = </a:t>
            </a:r>
            <a:r>
              <a:rPr lang="en-US" dirty="0" err="1"/>
              <a:t>np.ones</a:t>
            </a:r>
            <a:r>
              <a:rPr lang="en-US" dirty="0"/>
              <a:t>((n, n, n), np.uint8) / (n * n * n)</a:t>
            </a:r>
          </a:p>
          <a:p>
            <a:pPr marL="0" indent="0">
              <a:buNone/>
            </a:pPr>
            <a:r>
              <a:rPr lang="en-US" dirty="0"/>
              <a:t>    output = </a:t>
            </a:r>
            <a:r>
              <a:rPr lang="en-US" dirty="0" err="1"/>
              <a:t>ndi.correlate</a:t>
            </a:r>
            <a:r>
              <a:rPr lang="en-US" dirty="0"/>
              <a:t>(frame, k, mode='nearest')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cv.waitKey</a:t>
            </a:r>
            <a:r>
              <a:rPr lang="en-US" dirty="0"/>
              <a:t>(1) == 27:   break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83188" y="1332411"/>
            <a:ext cx="6312126" cy="452863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69971" y="143691"/>
            <a:ext cx="10515600" cy="9797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073150" y="5914980"/>
            <a:ext cx="4362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</a:t>
            </a:r>
            <a:r>
              <a:rPr lang="en-US" dirty="0"/>
              <a:t>Correlation with </a:t>
            </a:r>
            <a:r>
              <a:rPr lang="en-US" dirty="0" err="1"/>
              <a:t>trackbar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48" y="2521130"/>
            <a:ext cx="3987632" cy="309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6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0" y="679269"/>
            <a:ext cx="3547533" cy="1150084"/>
          </a:xfrm>
        </p:spPr>
        <p:txBody>
          <a:bodyPr/>
          <a:lstStyle/>
          <a:p>
            <a:pPr algn="ctr"/>
            <a:r>
              <a:rPr lang="en-US" dirty="0"/>
              <a:t>Some More operations on live webcam streams:</a:t>
            </a:r>
            <a:br>
              <a:rPr lang="en-US" dirty="0"/>
            </a:br>
            <a:r>
              <a:rPr lang="en-US" dirty="0"/>
              <a:t>Filtering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2721" y="2494712"/>
            <a:ext cx="4087291" cy="3664896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3966" y="953589"/>
            <a:ext cx="5826034" cy="5094514"/>
          </a:xfrm>
        </p:spPr>
        <p:txBody>
          <a:bodyPr>
            <a:noAutofit/>
          </a:bodyPr>
          <a:lstStyle/>
          <a:p>
            <a:r>
              <a:rPr lang="en-US" sz="1600" b="1" dirty="0"/>
              <a:t>Python code:</a:t>
            </a:r>
          </a:p>
          <a:p>
            <a:r>
              <a:rPr lang="en-US" sz="1600" dirty="0"/>
              <a:t>while True:</a:t>
            </a:r>
          </a:p>
          <a:p>
            <a:r>
              <a:rPr lang="en-US" sz="1600" dirty="0"/>
              <a:t>    ret, frame = </a:t>
            </a:r>
            <a:r>
              <a:rPr lang="en-US" sz="1600" dirty="0" err="1"/>
              <a:t>cap.read</a:t>
            </a:r>
            <a:r>
              <a:rPr lang="en-US" sz="1600" dirty="0"/>
              <a:t>()</a:t>
            </a:r>
          </a:p>
          <a:p>
            <a:r>
              <a:rPr lang="en-US" sz="1600" dirty="0"/>
              <a:t>    if not ret:</a:t>
            </a:r>
          </a:p>
          <a:p>
            <a:r>
              <a:rPr lang="en-US" sz="1600" dirty="0"/>
              <a:t>        print("Can't receive frame... \</a:t>
            </a:r>
            <a:r>
              <a:rPr lang="en-US" sz="1600" dirty="0" err="1"/>
              <a:t>nExiting</a:t>
            </a:r>
            <a:r>
              <a:rPr lang="en-US" sz="1600" dirty="0"/>
              <a:t> ...")</a:t>
            </a:r>
          </a:p>
          <a:p>
            <a:r>
              <a:rPr lang="en-US" sz="1600" dirty="0"/>
              <a:t>        break</a:t>
            </a:r>
          </a:p>
          <a:p>
            <a:r>
              <a:rPr lang="en-US" sz="1600" dirty="0"/>
              <a:t>    s = </a:t>
            </a:r>
            <a:r>
              <a:rPr lang="en-US" sz="1600" dirty="0" err="1"/>
              <a:t>cv.getTrackbarPos</a:t>
            </a:r>
            <a:r>
              <a:rPr lang="en-US" sz="1600" dirty="0"/>
              <a:t>('Size', WINDOW_NAME)</a:t>
            </a:r>
          </a:p>
          <a:p>
            <a:r>
              <a:rPr lang="en-US" sz="1600" dirty="0"/>
              <a:t>    p = </a:t>
            </a:r>
            <a:r>
              <a:rPr lang="en-US" sz="1600" dirty="0" err="1"/>
              <a:t>cv.getTrackbarPos</a:t>
            </a:r>
            <a:r>
              <a:rPr lang="en-US" sz="1600" dirty="0"/>
              <a:t>('Percentile', WINDOW_NAME)</a:t>
            </a:r>
          </a:p>
          <a:p>
            <a:r>
              <a:rPr lang="en-US" sz="1600" dirty="0"/>
              <a:t>    output = </a:t>
            </a:r>
            <a:r>
              <a:rPr lang="en-US" sz="1600" dirty="0" err="1"/>
              <a:t>ndi.percentile_filter</a:t>
            </a:r>
            <a:r>
              <a:rPr lang="en-US" sz="1600" dirty="0"/>
              <a:t>(frame, size=s, percentile=p)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cv.imshow</a:t>
            </a:r>
            <a:r>
              <a:rPr lang="en-US" sz="1600" dirty="0"/>
              <a:t>(WINDOW_NAME, output)</a:t>
            </a:r>
          </a:p>
          <a:p>
            <a:r>
              <a:rPr lang="en-US" sz="1600" dirty="0"/>
              <a:t>    if </a:t>
            </a:r>
            <a:r>
              <a:rPr lang="en-US" sz="1600" dirty="0" err="1"/>
              <a:t>cv.waitKey</a:t>
            </a:r>
            <a:r>
              <a:rPr lang="en-US" sz="1600" dirty="0"/>
              <a:t>(1) == 27: 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2576" y="6270171"/>
            <a:ext cx="282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Percentile </a:t>
            </a:r>
            <a:r>
              <a:rPr lang="en-US" dirty="0"/>
              <a:t>filter</a:t>
            </a:r>
          </a:p>
        </p:txBody>
      </p:sp>
    </p:spTree>
    <p:extLst>
      <p:ext uri="{BB962C8B-B14F-4D97-AF65-F5344CB8AC3E}">
        <p14:creationId xmlns:p14="http://schemas.microsoft.com/office/powerpoint/2010/main" val="228435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Some More operations on live webcam streams:</a:t>
            </a:r>
            <a:br>
              <a:rPr lang="en-US" dirty="0"/>
            </a:br>
            <a:r>
              <a:rPr lang="en-US" dirty="0"/>
              <a:t>Morphological Operation (Grayscale dilation)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7782" y="851037"/>
            <a:ext cx="6252633" cy="5414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Python Code:</a:t>
            </a:r>
          </a:p>
          <a:p>
            <a:pPr marL="0" indent="0">
              <a:buNone/>
            </a:pPr>
            <a:r>
              <a:rPr lang="en-US" dirty="0"/>
              <a:t>while True:</a:t>
            </a:r>
          </a:p>
          <a:p>
            <a:pPr marL="0" indent="0">
              <a:buNone/>
            </a:pPr>
            <a:r>
              <a:rPr lang="en-US" dirty="0"/>
              <a:t>    ret, frame = </a:t>
            </a:r>
            <a:r>
              <a:rPr lang="en-US" dirty="0" err="1"/>
              <a:t>cap.read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if not ret:</a:t>
            </a:r>
          </a:p>
          <a:p>
            <a:pPr marL="0" indent="0">
              <a:buNone/>
            </a:pPr>
            <a:r>
              <a:rPr lang="en-US" dirty="0"/>
              <a:t>        print("Can't receive frame... \</a:t>
            </a:r>
            <a:r>
              <a:rPr lang="en-US" dirty="0" err="1"/>
              <a:t>nExiting</a:t>
            </a:r>
            <a:r>
              <a:rPr lang="en-US" dirty="0"/>
              <a:t> ...")</a:t>
            </a:r>
          </a:p>
          <a:p>
            <a:pPr marL="0" indent="0">
              <a:buNone/>
            </a:pPr>
            <a:r>
              <a:rPr lang="en-US" dirty="0"/>
              <a:t>        break</a:t>
            </a:r>
          </a:p>
          <a:p>
            <a:pPr marL="0" indent="0">
              <a:buNone/>
            </a:pPr>
            <a:r>
              <a:rPr lang="en-US" dirty="0"/>
              <a:t>    grey = </a:t>
            </a:r>
            <a:r>
              <a:rPr lang="en-US" dirty="0" err="1"/>
              <a:t>cv.cvtColor</a:t>
            </a:r>
            <a:r>
              <a:rPr lang="en-US" dirty="0"/>
              <a:t>(frame,cv.COLOR_BGR2GRAY)</a:t>
            </a:r>
          </a:p>
          <a:p>
            <a:pPr marL="0" indent="0">
              <a:buNone/>
            </a:pPr>
            <a:r>
              <a:rPr lang="en-US" dirty="0"/>
              <a:t>    n1 = </a:t>
            </a:r>
            <a:r>
              <a:rPr lang="en-US" dirty="0" err="1"/>
              <a:t>cv.getTrackbarPos</a:t>
            </a:r>
            <a:r>
              <a:rPr lang="en-US" dirty="0"/>
              <a:t>('</a:t>
            </a:r>
            <a:r>
              <a:rPr lang="en-US" dirty="0" err="1"/>
              <a:t>Sigma',WINDOW_NAME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output = </a:t>
            </a:r>
            <a:r>
              <a:rPr lang="en-US" dirty="0" err="1"/>
              <a:t>ndi.grey_dilation</a:t>
            </a:r>
            <a:r>
              <a:rPr lang="en-US" dirty="0"/>
              <a:t>(grey, size=(7, 7), structure=</a:t>
            </a:r>
            <a:r>
              <a:rPr lang="en-US" dirty="0" err="1"/>
              <a:t>np.ones</a:t>
            </a:r>
            <a:r>
              <a:rPr lang="en-US" dirty="0"/>
              <a:t>((n1, n1)))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cv.imshow</a:t>
            </a:r>
            <a:r>
              <a:rPr lang="en-US" dirty="0"/>
              <a:t>(WINDOW_NAME, output)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cv.waitKey</a:t>
            </a:r>
            <a:r>
              <a:rPr lang="en-US" dirty="0"/>
              <a:t>(1) == 27: break</a:t>
            </a:r>
            <a:endParaRPr lang="en-US" dirty="0"/>
          </a:p>
        </p:txBody>
      </p:sp>
      <p:pic>
        <p:nvPicPr>
          <p:cNvPr id="5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0136" y="2669925"/>
            <a:ext cx="4113562" cy="3247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32858" y="6153583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Grayscale </a:t>
            </a:r>
            <a:r>
              <a:rPr lang="en-US" dirty="0"/>
              <a:t>dilation</a:t>
            </a:r>
          </a:p>
        </p:txBody>
      </p:sp>
    </p:spTree>
    <p:extLst>
      <p:ext uri="{BB962C8B-B14F-4D97-AF65-F5344CB8AC3E}">
        <p14:creationId xmlns:p14="http://schemas.microsoft.com/office/powerpoint/2010/main" val="371533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9280" y="864099"/>
            <a:ext cx="6222757" cy="5414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Python Code:</a:t>
            </a:r>
          </a:p>
          <a:p>
            <a:pPr marL="0" indent="0">
              <a:buNone/>
            </a:pPr>
            <a:r>
              <a:rPr lang="en-US" dirty="0"/>
              <a:t>while True:</a:t>
            </a:r>
          </a:p>
          <a:p>
            <a:pPr marL="0" indent="0">
              <a:buNone/>
            </a:pPr>
            <a:r>
              <a:rPr lang="en-US" dirty="0"/>
              <a:t>    ret, frame = </a:t>
            </a:r>
            <a:r>
              <a:rPr lang="en-US" dirty="0" err="1"/>
              <a:t>cap.read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if not ret:</a:t>
            </a:r>
          </a:p>
          <a:p>
            <a:pPr marL="0" indent="0">
              <a:buNone/>
            </a:pPr>
            <a:r>
              <a:rPr lang="en-US" dirty="0"/>
              <a:t>        break</a:t>
            </a:r>
          </a:p>
          <a:p>
            <a:pPr marL="0" indent="0">
              <a:buNone/>
            </a:pPr>
            <a:r>
              <a:rPr lang="en-US" dirty="0"/>
              <a:t>    grey = </a:t>
            </a:r>
            <a:r>
              <a:rPr lang="en-US" dirty="0" err="1"/>
              <a:t>cv.cvtColor</a:t>
            </a:r>
            <a:r>
              <a:rPr lang="en-US" dirty="0"/>
              <a:t>(frame, cv.COLOR_BGR2GRAY)</a:t>
            </a:r>
          </a:p>
          <a:p>
            <a:pPr marL="0" indent="0">
              <a:buNone/>
            </a:pPr>
            <a:r>
              <a:rPr lang="en-US" dirty="0"/>
              <a:t>    n1 = </a:t>
            </a:r>
            <a:r>
              <a:rPr lang="en-US" dirty="0" err="1"/>
              <a:t>cv.getTrackbarPos</a:t>
            </a:r>
            <a:r>
              <a:rPr lang="en-US" dirty="0"/>
              <a:t>('Sigma', WINDOW_NAME)</a:t>
            </a:r>
          </a:p>
          <a:p>
            <a:pPr marL="0" indent="0">
              <a:buNone/>
            </a:pPr>
            <a:r>
              <a:rPr lang="en-US" dirty="0"/>
              <a:t>    output = </a:t>
            </a:r>
            <a:r>
              <a:rPr lang="en-US" dirty="0" err="1"/>
              <a:t>ndi.grey_erosion</a:t>
            </a:r>
            <a:r>
              <a:rPr lang="en-US" dirty="0"/>
              <a:t>(grey, size=(7, 7), structure=</a:t>
            </a:r>
            <a:r>
              <a:rPr lang="en-US" dirty="0" err="1"/>
              <a:t>np.ones</a:t>
            </a:r>
            <a:r>
              <a:rPr lang="en-US" dirty="0"/>
              <a:t>((n1, n1)))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cv.waitKey</a:t>
            </a:r>
            <a:r>
              <a:rPr lang="en-US" dirty="0"/>
              <a:t>(1) == 27: 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break</a:t>
            </a:r>
          </a:p>
          <a:p>
            <a:pPr marL="0" indent="0">
              <a:buNone/>
            </a:pPr>
            <a:r>
              <a:rPr lang="en-US" dirty="0" err="1"/>
              <a:t>cap.release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cv.destroyAllWindows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Some More operations on live webcam streams:</a:t>
            </a:r>
            <a:br>
              <a:rPr lang="en-US" dirty="0"/>
            </a:br>
            <a:r>
              <a:rPr lang="en-US" dirty="0"/>
              <a:t>Morphological </a:t>
            </a:r>
            <a:r>
              <a:rPr lang="en-US" dirty="0" smtClean="0"/>
              <a:t>Operation (</a:t>
            </a:r>
            <a:r>
              <a:rPr lang="en-US" dirty="0"/>
              <a:t>Grayscale Erosion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6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212" y="2456681"/>
            <a:ext cx="3968890" cy="3199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58989" y="6094396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Grayscale </a:t>
            </a:r>
            <a:r>
              <a:rPr lang="en-US" dirty="0" smtClean="0"/>
              <a:t>erosion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07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/>
          <p:cNvSpPr/>
          <p:nvPr/>
        </p:nvSpPr>
        <p:spPr>
          <a:xfrm>
            <a:off x="2409371" y="2206171"/>
            <a:ext cx="6720115" cy="1770743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09370" y="2629877"/>
            <a:ext cx="6720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/>
              <a:t>Thank You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16408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468</TotalTime>
  <Words>2269</Words>
  <Application>Microsoft Office PowerPoint</Application>
  <PresentationFormat>Widescreen</PresentationFormat>
  <Paragraphs>323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Century Gothic</vt:lpstr>
      <vt:lpstr>Wingdings</vt:lpstr>
      <vt:lpstr>Wingdings 2</vt:lpstr>
      <vt:lpstr>Quotable</vt:lpstr>
      <vt:lpstr>Presentation on Wavelet, Special Effects and  Video Processing</vt:lpstr>
      <vt:lpstr>PowerPoint Presentation</vt:lpstr>
      <vt:lpstr>Wavelet Transform</vt:lpstr>
      <vt:lpstr>Applications of Wavelet Transform</vt:lpstr>
      <vt:lpstr>Image Compression using wavelet transform</vt:lpstr>
      <vt:lpstr>Image Compression using wavelet transform</vt:lpstr>
      <vt:lpstr>Approximation and detail coefficients</vt:lpstr>
      <vt:lpstr>PowerPoint Presentation</vt:lpstr>
      <vt:lpstr>High Pass Filtering Using Wavelets</vt:lpstr>
      <vt:lpstr>PowerPoint Presentation</vt:lpstr>
      <vt:lpstr>PowerPoint Presentation</vt:lpstr>
      <vt:lpstr>Special Effect</vt:lpstr>
      <vt:lpstr>Special Effect</vt:lpstr>
      <vt:lpstr>Radial pixelation</vt:lpstr>
      <vt:lpstr>Ripple Effects </vt:lpstr>
      <vt:lpstr>General Distortion Effects Fisheye and twirls</vt:lpstr>
      <vt:lpstr>General Distortion Effects  Jitter and circular slice </vt:lpstr>
      <vt:lpstr>General Distortion Effects   The fuzzy effect </vt:lpstr>
      <vt:lpstr>Pixel Effects The oil painting effect</vt:lpstr>
      <vt:lpstr>Pixel Effects The solarization effect</vt:lpstr>
      <vt:lpstr>Pixel Effects The color effect</vt:lpstr>
      <vt:lpstr>PowerPoint Presentation</vt:lpstr>
      <vt:lpstr>Video Processing</vt:lpstr>
      <vt:lpstr>Video Processing</vt:lpstr>
      <vt:lpstr>Output of live webcam feed</vt:lpstr>
      <vt:lpstr>Grayscale video of RGB color video</vt:lpstr>
      <vt:lpstr>Separating color channels in a live webcam stream</vt:lpstr>
      <vt:lpstr>Some More operations on live webcam streams: Geometric Transformation</vt:lpstr>
      <vt:lpstr>Some More operations on live webcam streams: Convolution</vt:lpstr>
      <vt:lpstr>Some More operations on live webcam streams: Convulation(Using Trackbar)</vt:lpstr>
      <vt:lpstr>Some More operations on live webcam streams: Correlation</vt:lpstr>
      <vt:lpstr>Some More operations on live webcam streams: Filtering</vt:lpstr>
      <vt:lpstr>Some More operations on live webcam streams: Morphological Operation (Grayscale dilation)</vt:lpstr>
      <vt:lpstr>Some More operations on live webcam streams: Morphological Operation (Grayscale Erosion)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 Shil</dc:creator>
  <cp:lastModifiedBy>Tama Shil</cp:lastModifiedBy>
  <cp:revision>30</cp:revision>
  <dcterms:created xsi:type="dcterms:W3CDTF">2023-08-15T08:57:17Z</dcterms:created>
  <dcterms:modified xsi:type="dcterms:W3CDTF">2023-08-16T04:41:01Z</dcterms:modified>
</cp:coreProperties>
</file>