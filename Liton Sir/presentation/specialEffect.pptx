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61" r:id="rId5"/>
    <p:sldId id="262" r:id="rId6"/>
    <p:sldId id="263" r:id="rId7"/>
    <p:sldId id="264" r:id="rId8"/>
    <p:sldId id="265" r:id="rId9"/>
    <p:sldId id="266" r:id="rId10"/>
    <p:sldId id="267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1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 showGuides="1">
      <p:cViewPr varScale="1">
        <p:scale>
          <a:sx n="73" d="100"/>
          <a:sy n="73" d="100"/>
        </p:scale>
        <p:origin x="618" y="84"/>
      </p:cViewPr>
      <p:guideLst>
        <p:guide orient="horz" pos="2160"/>
        <p:guide pos="3816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9DAE5F-EE08-46DD-8A19-7A0FAA920B99}" type="datetimeFigureOut">
              <a:rPr lang="en-US" smtClean="0"/>
              <a:t>8/15/2023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A39AF8-C58B-477D-93AF-593F0C731E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52523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9DAE5F-EE08-46DD-8A19-7A0FAA920B99}" type="datetimeFigureOut">
              <a:rPr lang="en-US" smtClean="0"/>
              <a:t>8/15/2023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A39AF8-C58B-477D-93AF-593F0C731E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84315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9DAE5F-EE08-46DD-8A19-7A0FAA920B99}" type="datetimeFigureOut">
              <a:rPr lang="en-US" smtClean="0"/>
              <a:t>8/15/2023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A39AF8-C58B-477D-93AF-593F0C731E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45213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9DAE5F-EE08-46DD-8A19-7A0FAA920B99}" type="datetimeFigureOut">
              <a:rPr lang="en-US" smtClean="0"/>
              <a:t>8/15/2023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A39AF8-C58B-477D-93AF-593F0C731E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65342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9DAE5F-EE08-46DD-8A19-7A0FAA920B99}" type="datetimeFigureOut">
              <a:rPr lang="en-US" smtClean="0"/>
              <a:t>8/15/2023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A39AF8-C58B-477D-93AF-593F0C731E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36811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9DAE5F-EE08-46DD-8A19-7A0FAA920B99}" type="datetimeFigureOut">
              <a:rPr lang="en-US" smtClean="0"/>
              <a:t>8/15/2023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A39AF8-C58B-477D-93AF-593F0C731E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14045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9DAE5F-EE08-46DD-8A19-7A0FAA920B99}" type="datetimeFigureOut">
              <a:rPr lang="en-US" smtClean="0"/>
              <a:t>8/15/2023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A39AF8-C58B-477D-93AF-593F0C731E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78553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9DAE5F-EE08-46DD-8A19-7A0FAA920B99}" type="datetimeFigureOut">
              <a:rPr lang="en-US" smtClean="0"/>
              <a:t>8/15/2023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A39AF8-C58B-477D-93AF-593F0C731E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95367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9DAE5F-EE08-46DD-8A19-7A0FAA920B99}" type="datetimeFigureOut">
              <a:rPr lang="en-US" smtClean="0"/>
              <a:t>8/15/2023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A39AF8-C58B-477D-93AF-593F0C731E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80193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9DAE5F-EE08-46DD-8A19-7A0FAA920B99}" type="datetimeFigureOut">
              <a:rPr lang="en-US" smtClean="0"/>
              <a:t>8/15/2023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A39AF8-C58B-477D-93AF-593F0C731E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00416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9DAE5F-EE08-46DD-8A19-7A0FAA920B99}" type="datetimeFigureOut">
              <a:rPr lang="en-US" smtClean="0"/>
              <a:t>8/15/2023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A39AF8-C58B-477D-93AF-593F0C731E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07843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9DAE5F-EE08-46DD-8A19-7A0FAA920B99}" type="datetimeFigureOut">
              <a:rPr lang="en-US" smtClean="0"/>
              <a:t>8/15/2023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A39AF8-C58B-477D-93AF-593F0C731E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31520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692331"/>
            <a:ext cx="9144000" cy="1071155"/>
          </a:xfrm>
        </p:spPr>
        <p:txBody>
          <a:bodyPr/>
          <a:lstStyle/>
          <a:p>
            <a:r>
              <a:rPr lang="en-US" dirty="0"/>
              <a:t>S</a:t>
            </a:r>
            <a:r>
              <a:rPr lang="en-US" dirty="0" smtClean="0"/>
              <a:t>pecial </a:t>
            </a:r>
            <a:r>
              <a:rPr lang="en-US" dirty="0"/>
              <a:t>effects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1946366"/>
            <a:ext cx="9144000" cy="3311434"/>
          </a:xfrm>
        </p:spPr>
        <p:txBody>
          <a:bodyPr>
            <a:normAutofit/>
          </a:bodyPr>
          <a:lstStyle/>
          <a:p>
            <a:pPr algn="just"/>
            <a:r>
              <a:rPr lang="en-US" dirty="0"/>
              <a:t>In this session, we will </a:t>
            </a:r>
            <a:r>
              <a:rPr lang="en-US" dirty="0" smtClean="0"/>
              <a:t>explore </a:t>
            </a:r>
            <a:r>
              <a:rPr lang="en-US" dirty="0"/>
              <a:t>special </a:t>
            </a:r>
            <a:r>
              <a:rPr lang="en-US" dirty="0" smtClean="0"/>
              <a:t>effects.</a:t>
            </a:r>
          </a:p>
          <a:p>
            <a:pPr algn="just"/>
            <a:r>
              <a:rPr lang="en-US" dirty="0"/>
              <a:t>Special effects are a key component of modern image processing, adding creativity and uniqueness to images</a:t>
            </a:r>
            <a:r>
              <a:rPr lang="en-US" dirty="0" smtClean="0"/>
              <a:t>.</a:t>
            </a:r>
          </a:p>
          <a:p>
            <a:pPr algn="just"/>
            <a:r>
              <a:rPr lang="en-US" dirty="0"/>
              <a:t>Special effects refer to various techniques used to manipulate images in ways that go beyond traditional enhancement</a:t>
            </a:r>
            <a:r>
              <a:rPr lang="en-US" dirty="0" smtClean="0"/>
              <a:t>. </a:t>
            </a:r>
            <a:endParaRPr lang="en-US" dirty="0"/>
          </a:p>
          <a:p>
            <a:pPr algn="just"/>
            <a:r>
              <a:rPr lang="en-US" dirty="0" smtClean="0"/>
              <a:t>We may want to do this for effect alone, or simply for fun. There are a great many different effects possible, and in this chapter we shall look at a few of them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79189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96834" y="1867989"/>
            <a:ext cx="10556966" cy="4308974"/>
          </a:xfrm>
        </p:spPr>
        <p:txBody>
          <a:bodyPr/>
          <a:lstStyle/>
          <a:p>
            <a:r>
              <a:rPr lang="en-US" dirty="0" smtClean="0"/>
              <a:t>1.  Radial pixilation </a:t>
            </a:r>
          </a:p>
          <a:p>
            <a:r>
              <a:rPr lang="en-US" dirty="0" smtClean="0"/>
              <a:t>2. Ripple Effects </a:t>
            </a:r>
          </a:p>
          <a:p>
            <a:r>
              <a:rPr lang="en-US" dirty="0" smtClean="0"/>
              <a:t>3.General</a:t>
            </a:r>
            <a:r>
              <a:rPr lang="en-US" dirty="0"/>
              <a:t> Distortion </a:t>
            </a:r>
            <a:r>
              <a:rPr lang="en-US" dirty="0" smtClean="0"/>
              <a:t>Effects(Fisheye</a:t>
            </a:r>
            <a:r>
              <a:rPr lang="en-US" dirty="0"/>
              <a:t> and </a:t>
            </a:r>
            <a:r>
              <a:rPr lang="en-US" dirty="0" smtClean="0"/>
              <a:t>twirls,</a:t>
            </a:r>
            <a:r>
              <a:rPr lang="en-US" dirty="0"/>
              <a:t> Jitter and circular </a:t>
            </a:r>
            <a:r>
              <a:rPr lang="en-US" dirty="0" smtClean="0"/>
              <a:t>slice,</a:t>
            </a:r>
            <a:r>
              <a:rPr lang="en-US" dirty="0"/>
              <a:t>  The fuzzy </a:t>
            </a:r>
            <a:r>
              <a:rPr lang="en-US" dirty="0" smtClean="0"/>
              <a:t>effect,</a:t>
            </a:r>
            <a:r>
              <a:rPr lang="en-US" dirty="0"/>
              <a:t> Jitter and circular </a:t>
            </a:r>
            <a:r>
              <a:rPr lang="en-US" dirty="0" smtClean="0"/>
              <a:t>slice,</a:t>
            </a:r>
            <a:r>
              <a:rPr lang="en-US" dirty="0"/>
              <a:t> The fuzzy effect </a:t>
            </a:r>
            <a:r>
              <a:rPr lang="en-US" dirty="0" smtClean="0"/>
              <a:t>)</a:t>
            </a:r>
          </a:p>
          <a:p>
            <a:r>
              <a:rPr lang="en-US" dirty="0" smtClean="0"/>
              <a:t>4.Pixel Effects(</a:t>
            </a:r>
            <a:r>
              <a:rPr lang="en-US" dirty="0"/>
              <a:t>The oil painting </a:t>
            </a:r>
            <a:r>
              <a:rPr lang="en-US" dirty="0" smtClean="0"/>
              <a:t>effect,</a:t>
            </a:r>
            <a:r>
              <a:rPr lang="en-US" dirty="0"/>
              <a:t> </a:t>
            </a:r>
            <a:r>
              <a:rPr lang="en-US" dirty="0" err="1"/>
              <a:t>solarization</a:t>
            </a:r>
            <a:r>
              <a:rPr lang="en-US" dirty="0"/>
              <a:t> </a:t>
            </a:r>
            <a:r>
              <a:rPr lang="en-US" dirty="0" smtClean="0"/>
              <a:t>effect)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30947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3034" y="378823"/>
            <a:ext cx="3932237" cy="960120"/>
          </a:xfrm>
        </p:spPr>
        <p:txBody>
          <a:bodyPr/>
          <a:lstStyle/>
          <a:p>
            <a:pPr algn="ctr"/>
            <a:r>
              <a:rPr lang="en-US" dirty="0" smtClean="0"/>
              <a:t>Radial </a:t>
            </a:r>
            <a:r>
              <a:rPr lang="en-US" dirty="0" err="1" smtClean="0"/>
              <a:t>pixelation</a:t>
            </a:r>
            <a:endParaRPr lang="en-US" dirty="0"/>
          </a:p>
        </p:txBody>
      </p:sp>
      <p:pic>
        <p:nvPicPr>
          <p:cNvPr id="5" name="Picture Placeholder 4"/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08" r="2508"/>
          <a:stretch>
            <a:fillRect/>
          </a:stretch>
        </p:blipFill>
        <p:spPr>
          <a:xfrm>
            <a:off x="5183188" y="992187"/>
            <a:ext cx="6142309" cy="4850023"/>
          </a:xfrm>
        </p:spPr>
      </p:pic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1449977"/>
            <a:ext cx="3932237" cy="4419011"/>
          </a:xfrm>
        </p:spPr>
        <p:txBody>
          <a:bodyPr>
            <a:normAutofit lnSpcReduction="10000"/>
          </a:bodyPr>
          <a:lstStyle/>
          <a:p>
            <a:r>
              <a:rPr lang="en-US" b="1" dirty="0" smtClean="0"/>
              <a:t>Python code:</a:t>
            </a:r>
          </a:p>
          <a:p>
            <a:r>
              <a:rPr lang="en-US" dirty="0" smtClean="0"/>
              <a:t>f = </a:t>
            </a:r>
            <a:r>
              <a:rPr lang="en-US" dirty="0" err="1" smtClean="0"/>
              <a:t>io.imread</a:t>
            </a:r>
            <a:r>
              <a:rPr lang="en-US" dirty="0" smtClean="0"/>
              <a:t>('D://Dataset//house.tiff')</a:t>
            </a:r>
          </a:p>
          <a:p>
            <a:r>
              <a:rPr lang="en-US" dirty="0" err="1" smtClean="0"/>
              <a:t>fg</a:t>
            </a:r>
            <a:r>
              <a:rPr lang="en-US" dirty="0" smtClean="0"/>
              <a:t> = color.rgb2gray(f)</a:t>
            </a:r>
          </a:p>
          <a:p>
            <a:r>
              <a:rPr lang="en-US" dirty="0" smtClean="0"/>
              <a:t>ox = oy = 0</a:t>
            </a:r>
          </a:p>
          <a:p>
            <a:r>
              <a:rPr lang="en-US" dirty="0" smtClean="0"/>
              <a:t>rows, cols = </a:t>
            </a:r>
            <a:r>
              <a:rPr lang="en-US" dirty="0" err="1" smtClean="0"/>
              <a:t>fg.shape</a:t>
            </a:r>
            <a:endParaRPr lang="en-US" dirty="0" smtClean="0"/>
          </a:p>
          <a:p>
            <a:r>
              <a:rPr lang="en-US" dirty="0" smtClean="0"/>
              <a:t>y, x = </a:t>
            </a:r>
            <a:r>
              <a:rPr lang="en-US" dirty="0" err="1" smtClean="0"/>
              <a:t>np.indices</a:t>
            </a:r>
            <a:r>
              <a:rPr lang="en-US" dirty="0" smtClean="0"/>
              <a:t>((rows, cols))</a:t>
            </a:r>
          </a:p>
          <a:p>
            <a:r>
              <a:rPr lang="en-US" dirty="0" smtClean="0"/>
              <a:t>r = </a:t>
            </a:r>
            <a:r>
              <a:rPr lang="en-US" dirty="0" err="1" smtClean="0"/>
              <a:t>np.sqrt</a:t>
            </a:r>
            <a:r>
              <a:rPr lang="en-US" dirty="0" smtClean="0"/>
              <a:t>((x - ox)**2 + (y - oy)**2)</a:t>
            </a:r>
          </a:p>
          <a:p>
            <a:r>
              <a:rPr lang="en-US" dirty="0" smtClean="0"/>
              <a:t>step = 10</a:t>
            </a:r>
          </a:p>
          <a:p>
            <a:r>
              <a:rPr lang="en-US" dirty="0" smtClean="0"/>
              <a:t>x2 = (r // step) * step + step // 2</a:t>
            </a:r>
          </a:p>
          <a:p>
            <a:r>
              <a:rPr lang="en-US" dirty="0" smtClean="0"/>
              <a:t>y2 = x2</a:t>
            </a:r>
          </a:p>
          <a:p>
            <a:r>
              <a:rPr lang="en-US" dirty="0" smtClean="0"/>
              <a:t>x2 = </a:t>
            </a:r>
            <a:r>
              <a:rPr lang="en-US" dirty="0" err="1" smtClean="0"/>
              <a:t>np.clip</a:t>
            </a:r>
            <a:r>
              <a:rPr lang="en-US" dirty="0" smtClean="0"/>
              <a:t>(x2, 0, cols - 1).</a:t>
            </a:r>
            <a:r>
              <a:rPr lang="en-US" dirty="0" err="1" smtClean="0"/>
              <a:t>astype</a:t>
            </a:r>
            <a:r>
              <a:rPr lang="en-US" dirty="0" smtClean="0"/>
              <a:t>(</a:t>
            </a:r>
            <a:r>
              <a:rPr lang="en-US" dirty="0" err="1" smtClean="0"/>
              <a:t>int</a:t>
            </a:r>
            <a:r>
              <a:rPr lang="en-US" dirty="0" smtClean="0"/>
              <a:t>)</a:t>
            </a:r>
          </a:p>
          <a:p>
            <a:r>
              <a:rPr lang="en-US" dirty="0" smtClean="0"/>
              <a:t>y2 = </a:t>
            </a:r>
            <a:r>
              <a:rPr lang="en-US" dirty="0" err="1" smtClean="0"/>
              <a:t>np.clip</a:t>
            </a:r>
            <a:r>
              <a:rPr lang="en-US" dirty="0" smtClean="0"/>
              <a:t>(y2, 0, rows - 1).</a:t>
            </a:r>
            <a:r>
              <a:rPr lang="en-US" dirty="0" err="1" smtClean="0"/>
              <a:t>astype</a:t>
            </a:r>
            <a:r>
              <a:rPr lang="en-US" dirty="0" smtClean="0"/>
              <a:t>(</a:t>
            </a:r>
            <a:r>
              <a:rPr lang="en-US" dirty="0" err="1" smtClean="0"/>
              <a:t>int</a:t>
            </a:r>
            <a:r>
              <a:rPr lang="en-US" dirty="0" smtClean="0"/>
              <a:t>)</a:t>
            </a:r>
          </a:p>
          <a:p>
            <a:r>
              <a:rPr lang="en-US" dirty="0" smtClean="0"/>
              <a:t>f2 = </a:t>
            </a:r>
            <a:r>
              <a:rPr lang="en-US" dirty="0" err="1" smtClean="0"/>
              <a:t>fg</a:t>
            </a:r>
            <a:r>
              <a:rPr lang="en-US" dirty="0" smtClean="0"/>
              <a:t>[y2, x2]</a:t>
            </a:r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7328263" y="4911635"/>
            <a:ext cx="33179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Fig: Radial </a:t>
            </a:r>
            <a:r>
              <a:rPr lang="en-US" dirty="0" err="1" smtClean="0"/>
              <a:t>pixelation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91832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3034" y="378823"/>
            <a:ext cx="3932237" cy="960120"/>
          </a:xfrm>
        </p:spPr>
        <p:txBody>
          <a:bodyPr/>
          <a:lstStyle/>
          <a:p>
            <a:pPr algn="ctr"/>
            <a:r>
              <a:rPr lang="en-US" dirty="0" smtClean="0"/>
              <a:t>Ripple Effects 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1449977"/>
            <a:ext cx="3932237" cy="4419011"/>
          </a:xfrm>
        </p:spPr>
        <p:txBody>
          <a:bodyPr>
            <a:normAutofit fontScale="92500" lnSpcReduction="10000"/>
          </a:bodyPr>
          <a:lstStyle/>
          <a:p>
            <a:r>
              <a:rPr lang="en-US" b="1" dirty="0" smtClean="0"/>
              <a:t>Python code:</a:t>
            </a:r>
          </a:p>
          <a:p>
            <a:r>
              <a:rPr lang="en-US" dirty="0" smtClean="0"/>
              <a:t>f = </a:t>
            </a:r>
            <a:r>
              <a:rPr lang="en-US" dirty="0" err="1" smtClean="0"/>
              <a:t>io.imread</a:t>
            </a:r>
            <a:r>
              <a:rPr lang="en-US" dirty="0" smtClean="0"/>
              <a:t>('D://Dataset//house.tiff')</a:t>
            </a:r>
          </a:p>
          <a:p>
            <a:r>
              <a:rPr lang="en-US" dirty="0" err="1" smtClean="0"/>
              <a:t>fg</a:t>
            </a:r>
            <a:r>
              <a:rPr lang="en-US" dirty="0" smtClean="0"/>
              <a:t> = color.rgb2gray(f)</a:t>
            </a:r>
          </a:p>
          <a:p>
            <a:r>
              <a:rPr lang="en-US" dirty="0" smtClean="0"/>
              <a:t>y, x = </a:t>
            </a:r>
            <a:r>
              <a:rPr lang="en-US" dirty="0" err="1" smtClean="0"/>
              <a:t>np.indices</a:t>
            </a:r>
            <a:r>
              <a:rPr lang="en-US" dirty="0" smtClean="0"/>
              <a:t>((cols, rows))</a:t>
            </a:r>
          </a:p>
          <a:p>
            <a:r>
              <a:rPr lang="en-US" dirty="0" smtClean="0"/>
              <a:t>x2 = clip(x + x % 32, 0, rows - 1)</a:t>
            </a:r>
          </a:p>
          <a:p>
            <a:r>
              <a:rPr lang="en-US" dirty="0" smtClean="0"/>
              <a:t>ripple1 = </a:t>
            </a:r>
            <a:r>
              <a:rPr lang="en-US" dirty="0" err="1" smtClean="0"/>
              <a:t>np.reshape</a:t>
            </a:r>
            <a:r>
              <a:rPr lang="en-US" dirty="0" smtClean="0"/>
              <a:t>(</a:t>
            </a:r>
            <a:r>
              <a:rPr lang="en-US" dirty="0" err="1" smtClean="0"/>
              <a:t>fg</a:t>
            </a:r>
            <a:r>
              <a:rPr lang="en-US" dirty="0" smtClean="0"/>
              <a:t>[x2.ravel(), </a:t>
            </a:r>
            <a:r>
              <a:rPr lang="en-US" dirty="0" err="1" smtClean="0"/>
              <a:t>y.ravel</a:t>
            </a:r>
            <a:r>
              <a:rPr lang="en-US" dirty="0" smtClean="0"/>
              <a:t>()], (cols, rows)).T</a:t>
            </a:r>
          </a:p>
          <a:p>
            <a:endParaRPr lang="en-US" dirty="0" smtClean="0"/>
          </a:p>
          <a:p>
            <a:r>
              <a:rPr lang="en-US" dirty="0" smtClean="0"/>
              <a:t>y2 = clip(y + y % 32, 0, cols - 1)</a:t>
            </a:r>
          </a:p>
          <a:p>
            <a:r>
              <a:rPr lang="en-US" dirty="0" smtClean="0"/>
              <a:t>ripple2 = </a:t>
            </a:r>
            <a:r>
              <a:rPr lang="en-US" dirty="0" err="1" smtClean="0"/>
              <a:t>np.reshape</a:t>
            </a:r>
            <a:r>
              <a:rPr lang="en-US" dirty="0" smtClean="0"/>
              <a:t>(</a:t>
            </a:r>
            <a:r>
              <a:rPr lang="en-US" dirty="0" err="1" smtClean="0"/>
              <a:t>fg</a:t>
            </a:r>
            <a:r>
              <a:rPr lang="en-US" dirty="0" smtClean="0"/>
              <a:t>[</a:t>
            </a:r>
            <a:r>
              <a:rPr lang="en-US" dirty="0" err="1" smtClean="0"/>
              <a:t>x.ravel</a:t>
            </a:r>
            <a:r>
              <a:rPr lang="en-US" dirty="0" smtClean="0"/>
              <a:t>(), y2.ravel()], (rows, cols)).T</a:t>
            </a:r>
          </a:p>
          <a:p>
            <a:endParaRPr lang="en-US" dirty="0" smtClean="0"/>
          </a:p>
          <a:p>
            <a:r>
              <a:rPr lang="en-US" dirty="0" smtClean="0"/>
              <a:t>y3 = clip(y + y % 32, 0, cols - 1)</a:t>
            </a:r>
          </a:p>
          <a:p>
            <a:r>
              <a:rPr lang="en-US" dirty="0" smtClean="0"/>
              <a:t>ripple3 = </a:t>
            </a:r>
            <a:r>
              <a:rPr lang="en-US" dirty="0" err="1" smtClean="0"/>
              <a:t>np.reshape</a:t>
            </a:r>
            <a:r>
              <a:rPr lang="en-US" dirty="0" smtClean="0"/>
              <a:t>(</a:t>
            </a:r>
            <a:r>
              <a:rPr lang="en-US" dirty="0" err="1" smtClean="0"/>
              <a:t>fg</a:t>
            </a:r>
            <a:r>
              <a:rPr lang="en-US" dirty="0" smtClean="0"/>
              <a:t>[x2.ravel(), y3.ravel()], (cols, rows)).T</a:t>
            </a:r>
          </a:p>
          <a:p>
            <a:endParaRPr lang="en-US" dirty="0" smtClean="0"/>
          </a:p>
        </p:txBody>
      </p:sp>
      <p:pic>
        <p:nvPicPr>
          <p:cNvPr id="7" name="Picture Placeholder 6"/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08" r="2508"/>
          <a:stretch>
            <a:fillRect/>
          </a:stretch>
        </p:blipFill>
        <p:spPr>
          <a:xfrm>
            <a:off x="5803991" y="673917"/>
            <a:ext cx="6172200" cy="4873625"/>
          </a:xfrm>
        </p:spPr>
      </p:pic>
      <p:sp>
        <p:nvSpPr>
          <p:cNvPr id="8" name="TextBox 7"/>
          <p:cNvSpPr txBox="1"/>
          <p:nvPr/>
        </p:nvSpPr>
        <p:spPr>
          <a:xfrm>
            <a:off x="7994468" y="5684322"/>
            <a:ext cx="33179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Fig: Ripple Effects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51671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3034" y="378823"/>
            <a:ext cx="4764177" cy="960120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General Distortion Effects</a:t>
            </a:r>
            <a:br>
              <a:rPr lang="en-US" dirty="0"/>
            </a:br>
            <a:r>
              <a:rPr lang="en-US" dirty="0"/>
              <a:t>Fisheye and twirls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1449977"/>
            <a:ext cx="3932237" cy="4419011"/>
          </a:xfrm>
        </p:spPr>
        <p:txBody>
          <a:bodyPr>
            <a:normAutofit/>
          </a:bodyPr>
          <a:lstStyle/>
          <a:p>
            <a:r>
              <a:rPr lang="en-US" b="1" dirty="0" smtClean="0"/>
              <a:t>Python code:</a:t>
            </a:r>
          </a:p>
          <a:p>
            <a:r>
              <a:rPr lang="en-US" dirty="0"/>
              <a:t>#</a:t>
            </a:r>
            <a:r>
              <a:rPr lang="en-US" dirty="0" err="1"/>
              <a:t>FishEye</a:t>
            </a:r>
            <a:endParaRPr lang="en-US" dirty="0"/>
          </a:p>
          <a:p>
            <a:r>
              <a:rPr lang="en-US" dirty="0" err="1"/>
              <a:t>r,theta,ox,oy</a:t>
            </a:r>
            <a:r>
              <a:rPr lang="en-US" dirty="0"/>
              <a:t> = </a:t>
            </a:r>
            <a:r>
              <a:rPr lang="en-US" dirty="0" err="1"/>
              <a:t>polarmesh</a:t>
            </a:r>
            <a:r>
              <a:rPr lang="en-US" dirty="0"/>
              <a:t>(</a:t>
            </a:r>
            <a:r>
              <a:rPr lang="en-US" dirty="0" err="1"/>
              <a:t>fg</a:t>
            </a:r>
            <a:r>
              <a:rPr lang="en-US" dirty="0"/>
              <a:t>)</a:t>
            </a:r>
          </a:p>
          <a:p>
            <a:r>
              <a:rPr lang="en-US" dirty="0"/>
              <a:t>s=r**2/</a:t>
            </a:r>
            <a:r>
              <a:rPr lang="en-US" dirty="0" err="1"/>
              <a:t>r.max</a:t>
            </a:r>
            <a:r>
              <a:rPr lang="en-US" dirty="0"/>
              <a:t>()</a:t>
            </a:r>
          </a:p>
          <a:p>
            <a:r>
              <a:rPr lang="en-US" dirty="0"/>
              <a:t>f2=polar2im(</a:t>
            </a:r>
            <a:r>
              <a:rPr lang="en-US" dirty="0" err="1"/>
              <a:t>s,theta,fg</a:t>
            </a:r>
            <a:r>
              <a:rPr lang="en-US" dirty="0"/>
              <a:t>)</a:t>
            </a:r>
          </a:p>
          <a:p>
            <a:endParaRPr lang="en-US" dirty="0"/>
          </a:p>
          <a:p>
            <a:r>
              <a:rPr lang="en-US" dirty="0"/>
              <a:t>#Twirl</a:t>
            </a:r>
          </a:p>
          <a:p>
            <a:r>
              <a:rPr lang="en-US" dirty="0"/>
              <a:t>K=100</a:t>
            </a:r>
          </a:p>
          <a:p>
            <a:r>
              <a:rPr lang="en-US" dirty="0"/>
              <a:t>phi=theta+(r/K)</a:t>
            </a:r>
          </a:p>
          <a:p>
            <a:r>
              <a:rPr lang="en-US" dirty="0"/>
              <a:t>twirl=polar2im(</a:t>
            </a:r>
            <a:r>
              <a:rPr lang="en-US" dirty="0" err="1"/>
              <a:t>r,phi,fg</a:t>
            </a:r>
            <a:r>
              <a:rPr lang="en-US" dirty="0"/>
              <a:t>)</a:t>
            </a:r>
            <a:endParaRPr lang="en-US" dirty="0" smtClean="0"/>
          </a:p>
        </p:txBody>
      </p:sp>
      <p:sp>
        <p:nvSpPr>
          <p:cNvPr id="6" name="TextBox 5"/>
          <p:cNvSpPr txBox="1"/>
          <p:nvPr/>
        </p:nvSpPr>
        <p:spPr>
          <a:xfrm>
            <a:off x="7393577" y="5485992"/>
            <a:ext cx="33179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Fig: </a:t>
            </a:r>
            <a:r>
              <a:rPr lang="en-US" dirty="0"/>
              <a:t>Fisheye and </a:t>
            </a:r>
            <a:r>
              <a:rPr lang="en-US" dirty="0" smtClean="0"/>
              <a:t>twirls effects</a:t>
            </a:r>
            <a:endParaRPr lang="en-US" dirty="0"/>
          </a:p>
        </p:txBody>
      </p:sp>
      <p:pic>
        <p:nvPicPr>
          <p:cNvPr id="5" name="Picture Placeholder 4"/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08" r="2508"/>
          <a:stretch>
            <a:fillRect/>
          </a:stretch>
        </p:blipFill>
        <p:spPr>
          <a:xfrm>
            <a:off x="5313817" y="634728"/>
            <a:ext cx="6172200" cy="4873625"/>
          </a:xfrm>
        </p:spPr>
      </p:pic>
    </p:spTree>
    <p:extLst>
      <p:ext uri="{BB962C8B-B14F-4D97-AF65-F5344CB8AC3E}">
        <p14:creationId xmlns:p14="http://schemas.microsoft.com/office/powerpoint/2010/main" val="8297627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3034" y="352697"/>
            <a:ext cx="4568235" cy="960120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General Distortion Effects 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Jitter</a:t>
            </a:r>
            <a:r>
              <a:rPr lang="en-US" dirty="0"/>
              <a:t> and circular slice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1449977"/>
            <a:ext cx="3932237" cy="4419011"/>
          </a:xfrm>
        </p:spPr>
        <p:txBody>
          <a:bodyPr>
            <a:normAutofit/>
          </a:bodyPr>
          <a:lstStyle/>
          <a:p>
            <a:r>
              <a:rPr lang="en-US" b="1" dirty="0" smtClean="0"/>
              <a:t>Python code:</a:t>
            </a:r>
          </a:p>
          <a:p>
            <a:r>
              <a:rPr lang="en-US" dirty="0"/>
              <a:t>#Jitter Effect</a:t>
            </a:r>
          </a:p>
          <a:p>
            <a:r>
              <a:rPr lang="en-US" dirty="0"/>
              <a:t>phi=theta+(theta%(8*</a:t>
            </a:r>
            <a:r>
              <a:rPr lang="en-US" dirty="0" err="1"/>
              <a:t>np.pi</a:t>
            </a:r>
            <a:r>
              <a:rPr lang="en-US" dirty="0"/>
              <a:t>/180))-4*</a:t>
            </a:r>
            <a:r>
              <a:rPr lang="en-US" dirty="0" err="1"/>
              <a:t>np.pi</a:t>
            </a:r>
            <a:r>
              <a:rPr lang="en-US" dirty="0"/>
              <a:t>/180</a:t>
            </a:r>
          </a:p>
          <a:p>
            <a:r>
              <a:rPr lang="en-US" dirty="0"/>
              <a:t>jitter=polar2im(</a:t>
            </a:r>
            <a:r>
              <a:rPr lang="en-US" dirty="0" err="1"/>
              <a:t>r,phi,fg</a:t>
            </a:r>
            <a:r>
              <a:rPr lang="en-US" dirty="0"/>
              <a:t>)</a:t>
            </a:r>
          </a:p>
          <a:p>
            <a:r>
              <a:rPr lang="en-US" dirty="0"/>
              <a:t>#Circular Slice</a:t>
            </a:r>
          </a:p>
          <a:p>
            <a:r>
              <a:rPr lang="en-US" dirty="0"/>
              <a:t>phi=theta+((r%6)*(</a:t>
            </a:r>
            <a:r>
              <a:rPr lang="en-US" dirty="0" err="1"/>
              <a:t>np.pi</a:t>
            </a:r>
            <a:r>
              <a:rPr lang="en-US" dirty="0"/>
              <a:t>/180))</a:t>
            </a:r>
          </a:p>
          <a:p>
            <a:r>
              <a:rPr lang="en-US" dirty="0" err="1"/>
              <a:t>circularSlice</a:t>
            </a:r>
            <a:r>
              <a:rPr lang="en-US" dirty="0"/>
              <a:t>=polar2im(</a:t>
            </a:r>
            <a:r>
              <a:rPr lang="en-US" dirty="0" err="1"/>
              <a:t>r,phi,fg</a:t>
            </a:r>
            <a:r>
              <a:rPr lang="en-US" dirty="0"/>
              <a:t>)</a:t>
            </a:r>
          </a:p>
          <a:p>
            <a:endParaRPr lang="en-US" dirty="0" smtClean="0"/>
          </a:p>
        </p:txBody>
      </p:sp>
      <p:sp>
        <p:nvSpPr>
          <p:cNvPr id="6" name="TextBox 5"/>
          <p:cNvSpPr txBox="1"/>
          <p:nvPr/>
        </p:nvSpPr>
        <p:spPr>
          <a:xfrm>
            <a:off x="7445828" y="5116467"/>
            <a:ext cx="33179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Fig: </a:t>
            </a:r>
            <a:r>
              <a:rPr lang="en-US" dirty="0"/>
              <a:t>Jitter and circular </a:t>
            </a:r>
            <a:r>
              <a:rPr lang="en-US" dirty="0" smtClean="0"/>
              <a:t>slice effects</a:t>
            </a:r>
            <a:endParaRPr lang="en-US" dirty="0"/>
          </a:p>
        </p:txBody>
      </p:sp>
      <p:pic>
        <p:nvPicPr>
          <p:cNvPr id="5" name="Picture Placeholder 4"/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08" r="2508"/>
          <a:stretch>
            <a:fillRect/>
          </a:stretch>
        </p:blipFill>
        <p:spPr>
          <a:xfrm>
            <a:off x="5509760" y="242842"/>
            <a:ext cx="6172200" cy="4873625"/>
          </a:xfrm>
        </p:spPr>
      </p:pic>
    </p:spTree>
    <p:extLst>
      <p:ext uri="{BB962C8B-B14F-4D97-AF65-F5344CB8AC3E}">
        <p14:creationId xmlns:p14="http://schemas.microsoft.com/office/powerpoint/2010/main" val="7700433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3034" y="378823"/>
            <a:ext cx="4568235" cy="960120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General Distortion Effects </a:t>
            </a:r>
            <a:br>
              <a:rPr lang="en-US" dirty="0"/>
            </a:br>
            <a:r>
              <a:rPr lang="en-US" dirty="0"/>
              <a:t> The fuzzy effect 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1449977"/>
            <a:ext cx="3932237" cy="4419011"/>
          </a:xfrm>
        </p:spPr>
        <p:txBody>
          <a:bodyPr>
            <a:normAutofit/>
          </a:bodyPr>
          <a:lstStyle/>
          <a:p>
            <a:r>
              <a:rPr lang="en-US" b="1" dirty="0" smtClean="0"/>
              <a:t>Python code:</a:t>
            </a:r>
          </a:p>
          <a:p>
            <a:r>
              <a:rPr lang="en-US" dirty="0"/>
              <a:t>#Fuzzy Effect</a:t>
            </a:r>
          </a:p>
          <a:p>
            <a:r>
              <a:rPr lang="en-US" dirty="0"/>
              <a:t>x2=</a:t>
            </a:r>
            <a:r>
              <a:rPr lang="en-US" dirty="0" err="1"/>
              <a:t>x+np.random.randint</a:t>
            </a:r>
            <a:r>
              <a:rPr lang="en-US" dirty="0"/>
              <a:t>(-3,3,size=(</a:t>
            </a:r>
            <a:r>
              <a:rPr lang="en-US" dirty="0" err="1"/>
              <a:t>rows,cols</a:t>
            </a:r>
            <a:r>
              <a:rPr lang="en-US" dirty="0"/>
              <a:t>))</a:t>
            </a:r>
          </a:p>
          <a:p>
            <a:r>
              <a:rPr lang="en-US" dirty="0"/>
              <a:t>y2=</a:t>
            </a:r>
            <a:r>
              <a:rPr lang="en-US" dirty="0" err="1"/>
              <a:t>y+np.random.randint</a:t>
            </a:r>
            <a:r>
              <a:rPr lang="en-US" dirty="0"/>
              <a:t>(-3,3,size=(</a:t>
            </a:r>
            <a:r>
              <a:rPr lang="en-US" dirty="0" err="1"/>
              <a:t>rows,cols</a:t>
            </a:r>
            <a:r>
              <a:rPr lang="en-US" dirty="0"/>
              <a:t>))</a:t>
            </a:r>
          </a:p>
          <a:p>
            <a:r>
              <a:rPr lang="en-US" dirty="0"/>
              <a:t>x2=clip(x2,0,rows-1).</a:t>
            </a:r>
            <a:r>
              <a:rPr lang="en-US" dirty="0" err="1"/>
              <a:t>astype</a:t>
            </a:r>
            <a:r>
              <a:rPr lang="en-US" dirty="0"/>
              <a:t>(</a:t>
            </a:r>
            <a:r>
              <a:rPr lang="en-US" dirty="0" err="1"/>
              <a:t>int</a:t>
            </a:r>
            <a:r>
              <a:rPr lang="en-US" dirty="0"/>
              <a:t>)</a:t>
            </a:r>
          </a:p>
          <a:p>
            <a:r>
              <a:rPr lang="en-US" dirty="0"/>
              <a:t>y2=clip(y2,0,cols-1).</a:t>
            </a:r>
            <a:r>
              <a:rPr lang="en-US" dirty="0" err="1"/>
              <a:t>astype</a:t>
            </a:r>
            <a:r>
              <a:rPr lang="en-US" dirty="0"/>
              <a:t>(</a:t>
            </a:r>
            <a:r>
              <a:rPr lang="en-US" dirty="0" err="1"/>
              <a:t>int</a:t>
            </a:r>
            <a:r>
              <a:rPr lang="en-US" dirty="0"/>
              <a:t>)</a:t>
            </a:r>
          </a:p>
          <a:p>
            <a:r>
              <a:rPr lang="en-US" dirty="0"/>
              <a:t>f2=</a:t>
            </a:r>
            <a:r>
              <a:rPr lang="en-US" dirty="0" err="1"/>
              <a:t>np.reshape</a:t>
            </a:r>
            <a:r>
              <a:rPr lang="en-US" dirty="0"/>
              <a:t>(</a:t>
            </a:r>
            <a:r>
              <a:rPr lang="en-US" dirty="0" err="1"/>
              <a:t>fg</a:t>
            </a:r>
            <a:r>
              <a:rPr lang="en-US" dirty="0"/>
              <a:t>[x2.ravel(),y2.ravel()],(</a:t>
            </a:r>
            <a:r>
              <a:rPr lang="en-US" dirty="0" err="1"/>
              <a:t>rows,cols</a:t>
            </a:r>
            <a:r>
              <a:rPr lang="en-US" dirty="0"/>
              <a:t>)).T</a:t>
            </a:r>
          </a:p>
          <a:p>
            <a:endParaRPr lang="en-US" dirty="0" smtClean="0"/>
          </a:p>
        </p:txBody>
      </p:sp>
      <p:sp>
        <p:nvSpPr>
          <p:cNvPr id="6" name="TextBox 5"/>
          <p:cNvSpPr txBox="1"/>
          <p:nvPr/>
        </p:nvSpPr>
        <p:spPr>
          <a:xfrm>
            <a:off x="7406640" y="5868988"/>
            <a:ext cx="33179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Fig: </a:t>
            </a:r>
            <a:r>
              <a:rPr lang="en-US" dirty="0"/>
              <a:t> The fuzzy effect  </a:t>
            </a:r>
          </a:p>
        </p:txBody>
      </p:sp>
      <p:pic>
        <p:nvPicPr>
          <p:cNvPr id="9" name="Picture Placeholder 8"/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08" r="2508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38022896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3034" y="378823"/>
            <a:ext cx="4568235" cy="960120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 smtClean="0"/>
              <a:t>Pixel Effects</a:t>
            </a:r>
            <a:br>
              <a:rPr lang="en-US" dirty="0" smtClean="0"/>
            </a:br>
            <a:r>
              <a:rPr lang="en-US" dirty="0" smtClean="0"/>
              <a:t>The</a:t>
            </a:r>
            <a:r>
              <a:rPr lang="en-US" dirty="0"/>
              <a:t> oil painting effect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1449977"/>
            <a:ext cx="3932237" cy="4419011"/>
          </a:xfrm>
        </p:spPr>
        <p:txBody>
          <a:bodyPr>
            <a:normAutofit/>
          </a:bodyPr>
          <a:lstStyle/>
          <a:p>
            <a:r>
              <a:rPr lang="en-US" b="1" dirty="0" smtClean="0"/>
              <a:t>Python code:</a:t>
            </a:r>
          </a:p>
          <a:p>
            <a:endParaRPr lang="en-US" dirty="0"/>
          </a:p>
          <a:p>
            <a:r>
              <a:rPr lang="en-US" dirty="0"/>
              <a:t>#oil paint effect</a:t>
            </a:r>
          </a:p>
          <a:p>
            <a:r>
              <a:rPr lang="en-US" dirty="0" err="1"/>
              <a:t>def</a:t>
            </a:r>
            <a:r>
              <a:rPr lang="en-US" dirty="0"/>
              <a:t> </a:t>
            </a:r>
            <a:r>
              <a:rPr lang="en-US" dirty="0" err="1"/>
              <a:t>mymode</a:t>
            </a:r>
            <a:r>
              <a:rPr lang="en-US" dirty="0"/>
              <a:t>(x):</a:t>
            </a:r>
          </a:p>
          <a:p>
            <a:r>
              <a:rPr lang="en-US" dirty="0"/>
              <a:t>    return </a:t>
            </a:r>
            <a:r>
              <a:rPr lang="en-US" dirty="0" err="1"/>
              <a:t>stats.mode</a:t>
            </a:r>
            <a:r>
              <a:rPr lang="en-US" dirty="0"/>
              <a:t>(x, axis=None, </a:t>
            </a:r>
            <a:r>
              <a:rPr lang="en-US" dirty="0" err="1"/>
              <a:t>keepdims</a:t>
            </a:r>
            <a:r>
              <a:rPr lang="en-US" dirty="0"/>
              <a:t>=True)[0][0]</a:t>
            </a:r>
          </a:p>
          <a:p>
            <a:endParaRPr lang="en-US" dirty="0"/>
          </a:p>
          <a:p>
            <a:r>
              <a:rPr lang="en-US" dirty="0"/>
              <a:t>f2 = </a:t>
            </a:r>
            <a:r>
              <a:rPr lang="en-US" dirty="0" err="1"/>
              <a:t>ndi.generic_filter</a:t>
            </a:r>
            <a:r>
              <a:rPr lang="en-US" dirty="0"/>
              <a:t>(</a:t>
            </a:r>
            <a:r>
              <a:rPr lang="en-US" dirty="0" err="1"/>
              <a:t>fg</a:t>
            </a:r>
            <a:r>
              <a:rPr lang="en-US" dirty="0"/>
              <a:t>, </a:t>
            </a:r>
            <a:r>
              <a:rPr lang="en-US" dirty="0" err="1"/>
              <a:t>mymode</a:t>
            </a:r>
            <a:r>
              <a:rPr lang="en-US" dirty="0"/>
              <a:t>, size=(9, 9))</a:t>
            </a:r>
          </a:p>
          <a:p>
            <a:endParaRPr lang="en-US" dirty="0"/>
          </a:p>
          <a:p>
            <a:endParaRPr lang="en-US" dirty="0" smtClean="0"/>
          </a:p>
        </p:txBody>
      </p:sp>
      <p:sp>
        <p:nvSpPr>
          <p:cNvPr id="6" name="TextBox 5"/>
          <p:cNvSpPr txBox="1"/>
          <p:nvPr/>
        </p:nvSpPr>
        <p:spPr>
          <a:xfrm>
            <a:off x="6244046" y="5868988"/>
            <a:ext cx="499001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Fig: </a:t>
            </a:r>
            <a:r>
              <a:rPr lang="en-US" dirty="0"/>
              <a:t>  The oil painting effect with different filter </a:t>
            </a:r>
            <a:r>
              <a:rPr lang="en-US" dirty="0" smtClean="0"/>
              <a:t>size 9x9</a:t>
            </a:r>
            <a:r>
              <a:rPr lang="en-US" dirty="0"/>
              <a:t> </a:t>
            </a:r>
          </a:p>
        </p:txBody>
      </p:sp>
      <p:pic>
        <p:nvPicPr>
          <p:cNvPr id="5" name="Picture Placeholder 4"/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08" r="2508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27365890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3034" y="378823"/>
            <a:ext cx="4568235" cy="960120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 smtClean="0"/>
              <a:t>Pixel Effects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The </a:t>
            </a:r>
            <a:r>
              <a:rPr lang="en-US" dirty="0" err="1"/>
              <a:t>solarization</a:t>
            </a:r>
            <a:r>
              <a:rPr lang="en-US" dirty="0"/>
              <a:t> effect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1449977"/>
            <a:ext cx="3932237" cy="4419011"/>
          </a:xfrm>
        </p:spPr>
        <p:txBody>
          <a:bodyPr>
            <a:normAutofit/>
          </a:bodyPr>
          <a:lstStyle/>
          <a:p>
            <a:r>
              <a:rPr lang="en-US" b="1" dirty="0" smtClean="0"/>
              <a:t>Python code:</a:t>
            </a:r>
          </a:p>
          <a:p>
            <a:endParaRPr lang="en-US" dirty="0" smtClean="0"/>
          </a:p>
          <a:p>
            <a:r>
              <a:rPr lang="en-US" dirty="0"/>
              <a:t>#The </a:t>
            </a:r>
            <a:r>
              <a:rPr lang="en-US" dirty="0" err="1"/>
              <a:t>solarization</a:t>
            </a:r>
            <a:r>
              <a:rPr lang="en-US" dirty="0"/>
              <a:t> effect</a:t>
            </a:r>
          </a:p>
          <a:p>
            <a:endParaRPr lang="en-US" dirty="0"/>
          </a:p>
          <a:p>
            <a:r>
              <a:rPr lang="en-US" dirty="0"/>
              <a:t>u=</a:t>
            </a:r>
            <a:r>
              <a:rPr lang="en-US" dirty="0" err="1"/>
              <a:t>fg</a:t>
            </a:r>
            <a:r>
              <a:rPr lang="en-US" dirty="0"/>
              <a:t>&gt;0.5</a:t>
            </a:r>
          </a:p>
          <a:p>
            <a:r>
              <a:rPr lang="en-US" dirty="0"/>
              <a:t>sol=u*</a:t>
            </a:r>
            <a:r>
              <a:rPr lang="en-US" dirty="0" err="1"/>
              <a:t>fg</a:t>
            </a:r>
            <a:r>
              <a:rPr lang="en-US" dirty="0"/>
              <a:t>+(1-u)*(1-fg</a:t>
            </a:r>
            <a:r>
              <a:rPr lang="en-US" dirty="0" smtClean="0"/>
              <a:t>)</a:t>
            </a:r>
          </a:p>
          <a:p>
            <a:r>
              <a:rPr lang="en-US" dirty="0" err="1"/>
              <a:t>plt.imshow</a:t>
            </a:r>
            <a:r>
              <a:rPr lang="en-US" dirty="0"/>
              <a:t>(</a:t>
            </a:r>
            <a:r>
              <a:rPr lang="en-US" dirty="0" err="1"/>
              <a:t>sol,vmin</a:t>
            </a:r>
            <a:r>
              <a:rPr lang="en-US" dirty="0"/>
              <a:t>=0,vmax=1, </a:t>
            </a:r>
            <a:r>
              <a:rPr lang="en-US" dirty="0" err="1"/>
              <a:t>cmap</a:t>
            </a:r>
            <a:r>
              <a:rPr lang="en-US" dirty="0"/>
              <a:t>='gray')</a:t>
            </a:r>
          </a:p>
          <a:p>
            <a:r>
              <a:rPr lang="en-US" dirty="0" err="1"/>
              <a:t>plt.title</a:t>
            </a:r>
            <a:r>
              <a:rPr lang="en-US" dirty="0"/>
              <a:t>('The </a:t>
            </a:r>
            <a:r>
              <a:rPr lang="en-US" dirty="0" err="1"/>
              <a:t>solarization</a:t>
            </a:r>
            <a:r>
              <a:rPr lang="en-US" dirty="0"/>
              <a:t> Effect')</a:t>
            </a:r>
          </a:p>
          <a:p>
            <a:endParaRPr lang="en-US" dirty="0"/>
          </a:p>
          <a:p>
            <a:endParaRPr lang="en-US" dirty="0" smtClean="0"/>
          </a:p>
        </p:txBody>
      </p:sp>
      <p:sp>
        <p:nvSpPr>
          <p:cNvPr id="6" name="TextBox 5"/>
          <p:cNvSpPr txBox="1"/>
          <p:nvPr/>
        </p:nvSpPr>
        <p:spPr>
          <a:xfrm>
            <a:off x="6244046" y="5868988"/>
            <a:ext cx="49900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Fig: </a:t>
            </a:r>
            <a:r>
              <a:rPr lang="en-US" dirty="0"/>
              <a:t>  The </a:t>
            </a:r>
            <a:r>
              <a:rPr lang="en-US" dirty="0" err="1"/>
              <a:t>solarization</a:t>
            </a:r>
            <a:r>
              <a:rPr lang="en-US" dirty="0"/>
              <a:t> effect</a:t>
            </a:r>
          </a:p>
        </p:txBody>
      </p:sp>
      <p:pic>
        <p:nvPicPr>
          <p:cNvPr id="7" name="Picture Placeholder 6"/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08" r="2508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11172788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3034" y="378823"/>
            <a:ext cx="4568235" cy="960120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 smtClean="0"/>
              <a:t>Pixel Effects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The </a:t>
            </a:r>
            <a:r>
              <a:rPr lang="en-US" dirty="0" smtClean="0"/>
              <a:t>color</a:t>
            </a:r>
            <a:r>
              <a:rPr lang="en-US" dirty="0"/>
              <a:t> effect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1449977"/>
            <a:ext cx="3932237" cy="4419011"/>
          </a:xfrm>
        </p:spPr>
        <p:txBody>
          <a:bodyPr>
            <a:normAutofit fontScale="92500" lnSpcReduction="10000"/>
          </a:bodyPr>
          <a:lstStyle/>
          <a:p>
            <a:r>
              <a:rPr lang="en-US" b="1" dirty="0" smtClean="0"/>
              <a:t>Python code:</a:t>
            </a:r>
          </a:p>
          <a:p>
            <a:endParaRPr lang="en-US" dirty="0" smtClean="0"/>
          </a:p>
          <a:p>
            <a:r>
              <a:rPr lang="en-US" dirty="0"/>
              <a:t>#The </a:t>
            </a:r>
            <a:r>
              <a:rPr lang="en-US" dirty="0" smtClean="0"/>
              <a:t>color effect</a:t>
            </a:r>
            <a:endParaRPr lang="en-US" dirty="0"/>
          </a:p>
          <a:p>
            <a:r>
              <a:rPr lang="en-US" dirty="0"/>
              <a:t>r, theta = </a:t>
            </a:r>
            <a:r>
              <a:rPr lang="en-US" dirty="0" err="1"/>
              <a:t>polarmesh</a:t>
            </a:r>
            <a:r>
              <a:rPr lang="en-US" dirty="0"/>
              <a:t>(</a:t>
            </a:r>
            <a:r>
              <a:rPr lang="en-US" dirty="0" err="1"/>
              <a:t>fg</a:t>
            </a:r>
            <a:r>
              <a:rPr lang="en-US" dirty="0"/>
              <a:t>)</a:t>
            </a:r>
          </a:p>
          <a:p>
            <a:r>
              <a:rPr lang="en-US" dirty="0"/>
              <a:t>k = 250</a:t>
            </a:r>
          </a:p>
          <a:p>
            <a:r>
              <a:rPr lang="en-US" dirty="0"/>
              <a:t>phi = theta + r / k</a:t>
            </a:r>
          </a:p>
          <a:p>
            <a:r>
              <a:rPr lang="en-US" dirty="0"/>
              <a:t>r2 = r + (r % 30)</a:t>
            </a:r>
          </a:p>
          <a:p>
            <a:endParaRPr lang="en-US" dirty="0"/>
          </a:p>
          <a:p>
            <a:r>
              <a:rPr lang="en-US" dirty="0"/>
              <a:t>twirl = </a:t>
            </a:r>
            <a:r>
              <a:rPr lang="en-US" dirty="0" err="1"/>
              <a:t>np.zeros_like</a:t>
            </a:r>
            <a:r>
              <a:rPr lang="en-US" dirty="0"/>
              <a:t>(f)</a:t>
            </a:r>
          </a:p>
          <a:p>
            <a:r>
              <a:rPr lang="en-US" dirty="0"/>
              <a:t>ripple = </a:t>
            </a:r>
            <a:r>
              <a:rPr lang="en-US" dirty="0" err="1"/>
              <a:t>np.zeros_like</a:t>
            </a:r>
            <a:r>
              <a:rPr lang="en-US" dirty="0"/>
              <a:t>(f)</a:t>
            </a:r>
          </a:p>
          <a:p>
            <a:endParaRPr lang="en-US" dirty="0"/>
          </a:p>
          <a:p>
            <a:r>
              <a:rPr lang="en-US" dirty="0"/>
              <a:t>for i in range(3):</a:t>
            </a:r>
          </a:p>
          <a:p>
            <a:r>
              <a:rPr lang="en-US" dirty="0"/>
              <a:t>    twirl[:, :, i] = polar2im(f[:, :, i], r, phi)</a:t>
            </a:r>
          </a:p>
          <a:p>
            <a:r>
              <a:rPr lang="en-US" dirty="0"/>
              <a:t>    ripple[:, :, i] = polar2im(f[:, :, i], r2, theta)</a:t>
            </a:r>
          </a:p>
          <a:p>
            <a:endParaRPr lang="en-US" dirty="0" smtClean="0"/>
          </a:p>
        </p:txBody>
      </p:sp>
      <p:sp>
        <p:nvSpPr>
          <p:cNvPr id="6" name="TextBox 5"/>
          <p:cNvSpPr txBox="1"/>
          <p:nvPr/>
        </p:nvSpPr>
        <p:spPr>
          <a:xfrm>
            <a:off x="6244046" y="5868988"/>
            <a:ext cx="49900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Fig: </a:t>
            </a:r>
            <a:r>
              <a:rPr lang="en-US" dirty="0"/>
              <a:t>  The COLOR INSERT Effects on a color image</a:t>
            </a:r>
          </a:p>
        </p:txBody>
      </p:sp>
      <p:pic>
        <p:nvPicPr>
          <p:cNvPr id="5" name="Picture Placeholder 4"/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08" r="2508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15700898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213</TotalTime>
  <Words>732</Words>
  <Application>Microsoft Office PowerPoint</Application>
  <PresentationFormat>Widescreen</PresentationFormat>
  <Paragraphs>103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Office Theme</vt:lpstr>
      <vt:lpstr>Special effects</vt:lpstr>
      <vt:lpstr>PowerPoint Presentation</vt:lpstr>
      <vt:lpstr>Radial pixelation</vt:lpstr>
      <vt:lpstr>Ripple Effects </vt:lpstr>
      <vt:lpstr>General Distortion Effects Fisheye and twirls</vt:lpstr>
      <vt:lpstr>General Distortion Effects  Jitter and circular slice</vt:lpstr>
      <vt:lpstr>General Distortion Effects   The fuzzy effect </vt:lpstr>
      <vt:lpstr>Pixel Effects The oil painting effect</vt:lpstr>
      <vt:lpstr>Pixel Effects The solarization effect</vt:lpstr>
      <vt:lpstr>Pixel Effects The color effect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Tama Shil</dc:creator>
  <cp:lastModifiedBy>Tama Shil</cp:lastModifiedBy>
  <cp:revision>18</cp:revision>
  <dcterms:created xsi:type="dcterms:W3CDTF">2023-08-14T18:39:37Z</dcterms:created>
  <dcterms:modified xsi:type="dcterms:W3CDTF">2023-08-15T14:50:40Z</dcterms:modified>
</cp:coreProperties>
</file>